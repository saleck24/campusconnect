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  <p:sldMasterId id="2147483661" r:id="rId2"/>
  </p:sldMasterIdLst>
  <p:notesMasterIdLst>
    <p:notesMasterId r:id="rId20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9" r:id="rId10"/>
    <p:sldId id="270" r:id="rId11"/>
    <p:sldId id="271" r:id="rId12"/>
    <p:sldId id="272" r:id="rId13"/>
    <p:sldId id="273" r:id="rId14"/>
    <p:sldId id="274" r:id="rId15"/>
    <p:sldId id="263" r:id="rId16"/>
    <p:sldId id="268" r:id="rId17"/>
    <p:sldId id="265" r:id="rId18"/>
    <p:sldId id="266" r:id="rId19"/>
  </p:sldIdLst>
  <p:sldSz cx="12192000" cy="6858000"/>
  <p:notesSz cx="6858000" cy="9144000"/>
  <p:defaultTextStyle>
    <a:defPPr>
      <a:defRPr lang="fr-M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74" autoAdjust="0"/>
  </p:normalViewPr>
  <p:slideViewPr>
    <p:cSldViewPr snapToGrid="0">
      <p:cViewPr>
        <p:scale>
          <a:sx n="75" d="100"/>
          <a:sy n="75" d="100"/>
        </p:scale>
        <p:origin x="979" y="185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presProps" Target="pres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M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08F6DD-7A1C-4808-BC5B-7687CFB29988}" type="datetimeFigureOut">
              <a:rPr lang="fr-MR" smtClean="0"/>
              <a:t>06/15/2026</a:t>
            </a:fld>
            <a:endParaRPr lang="fr-M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M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M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M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5F6FDA-74B1-40F1-9AAE-6B7B8AE68C62}" type="slidenum">
              <a:rPr lang="fr-MR" smtClean="0"/>
              <a:t>‹#›</a:t>
            </a:fld>
            <a:endParaRPr lang="fr-MR"/>
          </a:p>
        </p:txBody>
      </p:sp>
    </p:spTree>
    <p:extLst>
      <p:ext uri="{BB962C8B-B14F-4D97-AF65-F5344CB8AC3E}">
        <p14:creationId xmlns:p14="http://schemas.microsoft.com/office/powerpoint/2010/main" val="4288886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A5F33-ED6F-E710-C363-3F1B442403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M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E6EE4DD-9FE4-C13A-E02E-DE697234BA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M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86B415-0488-B50B-42B5-67B425F213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M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279485-6A49-7DF3-0BCC-06D9DC3286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A4A137-CF0D-1C91-6F8C-4C72D136C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5C44B2-EF24-47DE-AE96-011251291C83}" type="slidenum">
              <a:rPr lang="fr-MR" smtClean="0"/>
              <a:t>‹#›</a:t>
            </a:fld>
            <a:endParaRPr lang="fr-MR"/>
          </a:p>
        </p:txBody>
      </p:sp>
    </p:spTree>
    <p:extLst>
      <p:ext uri="{BB962C8B-B14F-4D97-AF65-F5344CB8AC3E}">
        <p14:creationId xmlns:p14="http://schemas.microsoft.com/office/powerpoint/2010/main" val="4084355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FC5767-09B5-AE59-138C-14E408E0E6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M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44C3DA-49EB-3169-3646-2203AD9990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M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F89D22-8F94-DD1A-2965-329D9E3DF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M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5EF195-6472-6E4D-EB93-64BE9289DA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A158E8-8DAA-65D6-3056-18506B3D63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5C44B2-EF24-47DE-AE96-011251291C83}" type="slidenum">
              <a:rPr lang="fr-MR" smtClean="0"/>
              <a:t>‹#›</a:t>
            </a:fld>
            <a:endParaRPr lang="fr-MR"/>
          </a:p>
        </p:txBody>
      </p:sp>
    </p:spTree>
    <p:extLst>
      <p:ext uri="{BB962C8B-B14F-4D97-AF65-F5344CB8AC3E}">
        <p14:creationId xmlns:p14="http://schemas.microsoft.com/office/powerpoint/2010/main" val="26449979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48C37-572C-83B4-B0BA-9AD9685198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M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734979-CCE2-8036-FCD9-9EC6C184E5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B2324E-34E8-40E6-772C-6DD463F9D9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M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B704E4-2F82-9763-98F5-49D58D9F6E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133619-E6DE-014E-8F30-4C57E27E37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5C44B2-EF24-47DE-AE96-011251291C83}" type="slidenum">
              <a:rPr lang="fr-MR" smtClean="0"/>
              <a:t>‹#›</a:t>
            </a:fld>
            <a:endParaRPr lang="fr-MR"/>
          </a:p>
        </p:txBody>
      </p:sp>
    </p:spTree>
    <p:extLst>
      <p:ext uri="{BB962C8B-B14F-4D97-AF65-F5344CB8AC3E}">
        <p14:creationId xmlns:p14="http://schemas.microsoft.com/office/powerpoint/2010/main" val="11687258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F2E289-C25E-2A71-4265-F641070346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M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27BCBC-8EB2-7CB2-976F-7D35882CDB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M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D2B883-CC17-F2A4-FCD5-EB2448FF8F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M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354449-C721-8036-566C-324C444496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M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2F6A00-98BE-7DC8-7F91-9905D6235A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70E077-4B9D-5C73-2B63-98C598D92A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5C44B2-EF24-47DE-AE96-011251291C83}" type="slidenum">
              <a:rPr lang="fr-MR" smtClean="0"/>
              <a:t>‹#›</a:t>
            </a:fld>
            <a:endParaRPr lang="fr-MR"/>
          </a:p>
        </p:txBody>
      </p:sp>
    </p:spTree>
    <p:extLst>
      <p:ext uri="{BB962C8B-B14F-4D97-AF65-F5344CB8AC3E}">
        <p14:creationId xmlns:p14="http://schemas.microsoft.com/office/powerpoint/2010/main" val="32265896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223161-6146-CF45-17F4-A0C3D8FDA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M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ACC55F-2E36-F56A-BA44-9515A8CDD1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E214DB-941C-0B67-1391-7DA59C4729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M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93FEFB-14FB-40EB-D437-86F78FAD1DA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C40FEE3-5D22-5040-C87D-EDBA20C3037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M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771960A-36DE-A92A-E000-AC3FBCED0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M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E05B44D-80B2-9A73-E8E9-2244D26E1B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28588FD-6F9E-24D8-C325-B829DE8C78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5C44B2-EF24-47DE-AE96-011251291C83}" type="slidenum">
              <a:rPr lang="fr-MR" smtClean="0"/>
              <a:t>‹#›</a:t>
            </a:fld>
            <a:endParaRPr lang="fr-MR"/>
          </a:p>
        </p:txBody>
      </p:sp>
    </p:spTree>
    <p:extLst>
      <p:ext uri="{BB962C8B-B14F-4D97-AF65-F5344CB8AC3E}">
        <p14:creationId xmlns:p14="http://schemas.microsoft.com/office/powerpoint/2010/main" val="15193384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F1832C-74C4-D08D-057A-D7240A6973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M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7BD00B5-FF77-B5DF-3654-F53148FE50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M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5024B3-57E5-19E4-125C-23912CDF7F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99BF40-57D4-7BF5-24B0-D5AC2E7BF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5C44B2-EF24-47DE-AE96-011251291C83}" type="slidenum">
              <a:rPr lang="fr-MR" smtClean="0"/>
              <a:t>‹#›</a:t>
            </a:fld>
            <a:endParaRPr lang="fr-MR"/>
          </a:p>
        </p:txBody>
      </p:sp>
    </p:spTree>
    <p:extLst>
      <p:ext uri="{BB962C8B-B14F-4D97-AF65-F5344CB8AC3E}">
        <p14:creationId xmlns:p14="http://schemas.microsoft.com/office/powerpoint/2010/main" val="2616803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9CB9EDB-06FE-C23C-B5CD-2E6D9E09E6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M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35B1D1-19AC-4C8F-102E-6B9D4827F9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BD9320-18B3-30FB-DEB3-C2655B7B6C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5C44B2-EF24-47DE-AE96-011251291C83}" type="slidenum">
              <a:rPr lang="fr-MR" smtClean="0"/>
              <a:t>‹#›</a:t>
            </a:fld>
            <a:endParaRPr lang="fr-MR"/>
          </a:p>
        </p:txBody>
      </p:sp>
    </p:spTree>
    <p:extLst>
      <p:ext uri="{BB962C8B-B14F-4D97-AF65-F5344CB8AC3E}">
        <p14:creationId xmlns:p14="http://schemas.microsoft.com/office/powerpoint/2010/main" val="25139719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19A5D-24C2-8C59-6720-81DDFAB93C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M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1D81AB-ECD4-BB5F-CFC7-1D75D4FDFA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M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890C4C-EF13-8D1E-360A-97819D9A79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1BB124-26B1-EB8A-C966-DF3661FC5E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M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75821E-FB54-6CA4-7676-4D6925328B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5DCB7F-732C-AEAE-340A-5DAC3A17CC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5C44B2-EF24-47DE-AE96-011251291C83}" type="slidenum">
              <a:rPr lang="fr-MR" smtClean="0"/>
              <a:t>‹#›</a:t>
            </a:fld>
            <a:endParaRPr lang="fr-MR"/>
          </a:p>
        </p:txBody>
      </p:sp>
    </p:spTree>
    <p:extLst>
      <p:ext uri="{BB962C8B-B14F-4D97-AF65-F5344CB8AC3E}">
        <p14:creationId xmlns:p14="http://schemas.microsoft.com/office/powerpoint/2010/main" val="707984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7AF440-CD8A-4943-1FD5-BE63210DDE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M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EC9AB6A-9943-7249-9A67-3A4F825587E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0012" y="877697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M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73E04B-6618-31B8-5A39-52397A8556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9861DC-6EBF-849E-8A32-B3772FDCAD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M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AB806D-E989-88F3-0756-D383D00B27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7EE12F-1C45-ACA9-7773-9C07A40093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>
            <a:noFill/>
          </a:ln>
        </p:spPr>
        <p:txBody>
          <a:bodyPr/>
          <a:lstStyle/>
          <a:p>
            <a:fld id="{395C44B2-EF24-47DE-AE96-011251291C83}" type="slidenum">
              <a:rPr lang="fr-MR" smtClean="0"/>
              <a:t>‹#›</a:t>
            </a:fld>
            <a:endParaRPr lang="fr-MR" dirty="0"/>
          </a:p>
        </p:txBody>
      </p:sp>
    </p:spTree>
    <p:extLst>
      <p:ext uri="{BB962C8B-B14F-4D97-AF65-F5344CB8AC3E}">
        <p14:creationId xmlns:p14="http://schemas.microsoft.com/office/powerpoint/2010/main" val="34598445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95E10-8599-B819-D2B3-C43A4D088F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M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C43696-AE4D-4A6B-679F-38DD074709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M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F39C89-4BC4-D1B0-4625-72532C865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M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B876F2-967E-87A9-814E-17496AC0B8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842E55-53FB-FB5A-BFF7-25BA3CF82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5C44B2-EF24-47DE-AE96-011251291C83}" type="slidenum">
              <a:rPr lang="fr-MR" smtClean="0"/>
              <a:t>‹#›</a:t>
            </a:fld>
            <a:endParaRPr lang="fr-MR"/>
          </a:p>
        </p:txBody>
      </p:sp>
    </p:spTree>
    <p:extLst>
      <p:ext uri="{BB962C8B-B14F-4D97-AF65-F5344CB8AC3E}">
        <p14:creationId xmlns:p14="http://schemas.microsoft.com/office/powerpoint/2010/main" val="8972771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B8CDA6A-623C-7937-DBD3-F15B800B5F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M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16D826D-3ED8-52EC-3975-C7AC80C906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M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DA1830-7D8A-A578-5893-4C1534ACF0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M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7444A3-376D-7076-CFB4-34025B4688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8783E9-9A34-9CBF-98A5-97BCD73148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5C44B2-EF24-47DE-AE96-011251291C83}" type="slidenum">
              <a:rPr lang="fr-MR" smtClean="0"/>
              <a:t>‹#›</a:t>
            </a:fld>
            <a:endParaRPr lang="fr-MR"/>
          </a:p>
        </p:txBody>
      </p:sp>
    </p:spTree>
    <p:extLst>
      <p:ext uri="{BB962C8B-B14F-4D97-AF65-F5344CB8AC3E}">
        <p14:creationId xmlns:p14="http://schemas.microsoft.com/office/powerpoint/2010/main" val="130218980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81068FA9-660D-46A3-9FD6-2730BA6F2B1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45660" y="191069"/>
            <a:ext cx="1624084" cy="1624084"/>
          </a:xfrm>
          <a:custGeom>
            <a:avLst/>
            <a:gdLst>
              <a:gd name="connsiteX0" fmla="*/ 812042 w 1624084"/>
              <a:gd name="connsiteY0" fmla="*/ 0 h 1624084"/>
              <a:gd name="connsiteX1" fmla="*/ 1624084 w 1624084"/>
              <a:gd name="connsiteY1" fmla="*/ 812042 h 1624084"/>
              <a:gd name="connsiteX2" fmla="*/ 812042 w 1624084"/>
              <a:gd name="connsiteY2" fmla="*/ 1624084 h 1624084"/>
              <a:gd name="connsiteX3" fmla="*/ 0 w 1624084"/>
              <a:gd name="connsiteY3" fmla="*/ 812042 h 1624084"/>
              <a:gd name="connsiteX4" fmla="*/ 812042 w 1624084"/>
              <a:gd name="connsiteY4" fmla="*/ 0 h 16240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24084" h="1624084">
                <a:moveTo>
                  <a:pt x="812042" y="0"/>
                </a:moveTo>
                <a:cubicBezTo>
                  <a:pt x="1260520" y="0"/>
                  <a:pt x="1624084" y="363564"/>
                  <a:pt x="1624084" y="812042"/>
                </a:cubicBezTo>
                <a:cubicBezTo>
                  <a:pt x="1624084" y="1260520"/>
                  <a:pt x="1260520" y="1624084"/>
                  <a:pt x="812042" y="1624084"/>
                </a:cubicBezTo>
                <a:cubicBezTo>
                  <a:pt x="363564" y="1624084"/>
                  <a:pt x="0" y="1260520"/>
                  <a:pt x="0" y="812042"/>
                </a:cubicBezTo>
                <a:cubicBezTo>
                  <a:pt x="0" y="363564"/>
                  <a:pt x="363564" y="0"/>
                  <a:pt x="812042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fr-FR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645A909C-343A-4950-AF75-AACF7973836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0322257" y="191069"/>
            <a:ext cx="1624084" cy="1624084"/>
          </a:xfrm>
          <a:custGeom>
            <a:avLst/>
            <a:gdLst>
              <a:gd name="connsiteX0" fmla="*/ 812042 w 1624084"/>
              <a:gd name="connsiteY0" fmla="*/ 0 h 1624084"/>
              <a:gd name="connsiteX1" fmla="*/ 1624084 w 1624084"/>
              <a:gd name="connsiteY1" fmla="*/ 812042 h 1624084"/>
              <a:gd name="connsiteX2" fmla="*/ 812042 w 1624084"/>
              <a:gd name="connsiteY2" fmla="*/ 1624084 h 1624084"/>
              <a:gd name="connsiteX3" fmla="*/ 0 w 1624084"/>
              <a:gd name="connsiteY3" fmla="*/ 812042 h 1624084"/>
              <a:gd name="connsiteX4" fmla="*/ 812042 w 1624084"/>
              <a:gd name="connsiteY4" fmla="*/ 0 h 16240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24084" h="1624084">
                <a:moveTo>
                  <a:pt x="812042" y="0"/>
                </a:moveTo>
                <a:cubicBezTo>
                  <a:pt x="1260520" y="0"/>
                  <a:pt x="1624084" y="363564"/>
                  <a:pt x="1624084" y="812042"/>
                </a:cubicBezTo>
                <a:cubicBezTo>
                  <a:pt x="1624084" y="1260520"/>
                  <a:pt x="1260520" y="1624084"/>
                  <a:pt x="812042" y="1624084"/>
                </a:cubicBezTo>
                <a:cubicBezTo>
                  <a:pt x="363564" y="1624084"/>
                  <a:pt x="0" y="1260520"/>
                  <a:pt x="0" y="812042"/>
                </a:cubicBezTo>
                <a:cubicBezTo>
                  <a:pt x="0" y="363564"/>
                  <a:pt x="363564" y="0"/>
                  <a:pt x="812042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5735597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A5F33-ED6F-E710-C363-3F1B442403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M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E6EE4DD-9FE4-C13A-E02E-DE697234BA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M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86B415-0488-B50B-42B5-67B425F213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3EBB8-5D93-480B-8E51-8A5CAA849165}" type="datetimeFigureOut">
              <a:rPr lang="fr-MR" smtClean="0"/>
              <a:t>06/15/2026</a:t>
            </a:fld>
            <a:endParaRPr lang="fr-M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279485-6A49-7DF3-0BCC-06D9DC3286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A4A137-CF0D-1C91-6F8C-4C72D136C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5C44B2-EF24-47DE-AE96-011251291C83}" type="slidenum">
              <a:rPr lang="fr-MR" smtClean="0"/>
              <a:t>‹#›</a:t>
            </a:fld>
            <a:endParaRPr lang="fr-MR"/>
          </a:p>
        </p:txBody>
      </p:sp>
    </p:spTree>
    <p:extLst>
      <p:ext uri="{BB962C8B-B14F-4D97-AF65-F5344CB8AC3E}">
        <p14:creationId xmlns:p14="http://schemas.microsoft.com/office/powerpoint/2010/main" val="214746527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FC5767-09B5-AE59-138C-14E408E0E6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M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44C3DA-49EB-3169-3646-2203AD9990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M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F89D22-8F94-DD1A-2965-329D9E3DF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3EBB8-5D93-480B-8E51-8A5CAA849165}" type="datetimeFigureOut">
              <a:rPr lang="fr-MR" smtClean="0"/>
              <a:t>06/15/2026</a:t>
            </a:fld>
            <a:endParaRPr lang="fr-M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5EF195-6472-6E4D-EB93-64BE9289DA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A158E8-8DAA-65D6-3056-18506B3D63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5C44B2-EF24-47DE-AE96-011251291C83}" type="slidenum">
              <a:rPr lang="fr-MR" smtClean="0"/>
              <a:t>‹#›</a:t>
            </a:fld>
            <a:endParaRPr lang="fr-MR"/>
          </a:p>
        </p:txBody>
      </p:sp>
    </p:spTree>
    <p:extLst>
      <p:ext uri="{BB962C8B-B14F-4D97-AF65-F5344CB8AC3E}">
        <p14:creationId xmlns:p14="http://schemas.microsoft.com/office/powerpoint/2010/main" val="793724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48C37-572C-83B4-B0BA-9AD9685198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M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734979-CCE2-8036-FCD9-9EC6C184E5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B2324E-34E8-40E6-772C-6DD463F9D9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3EBB8-5D93-480B-8E51-8A5CAA849165}" type="datetimeFigureOut">
              <a:rPr lang="fr-MR" smtClean="0"/>
              <a:t>06/15/2026</a:t>
            </a:fld>
            <a:endParaRPr lang="fr-M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B704E4-2F82-9763-98F5-49D58D9F6E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133619-E6DE-014E-8F30-4C57E27E37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5C44B2-EF24-47DE-AE96-011251291C83}" type="slidenum">
              <a:rPr lang="fr-MR" smtClean="0"/>
              <a:t>‹#›</a:t>
            </a:fld>
            <a:endParaRPr lang="fr-MR"/>
          </a:p>
        </p:txBody>
      </p:sp>
    </p:spTree>
    <p:extLst>
      <p:ext uri="{BB962C8B-B14F-4D97-AF65-F5344CB8AC3E}">
        <p14:creationId xmlns:p14="http://schemas.microsoft.com/office/powerpoint/2010/main" val="170978917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F2E289-C25E-2A71-4265-F641070346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M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27BCBC-8EB2-7CB2-976F-7D35882CDB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M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D2B883-CC17-F2A4-FCD5-EB2448FF8F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M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354449-C721-8036-566C-324C444496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3EBB8-5D93-480B-8E51-8A5CAA849165}" type="datetimeFigureOut">
              <a:rPr lang="fr-MR" smtClean="0"/>
              <a:t>06/15/2026</a:t>
            </a:fld>
            <a:endParaRPr lang="fr-M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2F6A00-98BE-7DC8-7F91-9905D6235A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70E077-4B9D-5C73-2B63-98C598D92A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5C44B2-EF24-47DE-AE96-011251291C83}" type="slidenum">
              <a:rPr lang="fr-MR" smtClean="0"/>
              <a:t>‹#›</a:t>
            </a:fld>
            <a:endParaRPr lang="fr-MR"/>
          </a:p>
        </p:txBody>
      </p:sp>
    </p:spTree>
    <p:extLst>
      <p:ext uri="{BB962C8B-B14F-4D97-AF65-F5344CB8AC3E}">
        <p14:creationId xmlns:p14="http://schemas.microsoft.com/office/powerpoint/2010/main" val="34589986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223161-6146-CF45-17F4-A0C3D8FDA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M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ACC55F-2E36-F56A-BA44-9515A8CDD1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E214DB-941C-0B67-1391-7DA59C4729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M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93FEFB-14FB-40EB-D437-86F78FAD1DA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C40FEE3-5D22-5040-C87D-EDBA20C3037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M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771960A-36DE-A92A-E000-AC3FBCED0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3EBB8-5D93-480B-8E51-8A5CAA849165}" type="datetimeFigureOut">
              <a:rPr lang="fr-MR" smtClean="0"/>
              <a:t>06/15/2026</a:t>
            </a:fld>
            <a:endParaRPr lang="fr-M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E05B44D-80B2-9A73-E8E9-2244D26E1B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28588FD-6F9E-24D8-C325-B829DE8C78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5C44B2-EF24-47DE-AE96-011251291C83}" type="slidenum">
              <a:rPr lang="fr-MR" smtClean="0"/>
              <a:t>‹#›</a:t>
            </a:fld>
            <a:endParaRPr lang="fr-MR"/>
          </a:p>
        </p:txBody>
      </p:sp>
    </p:spTree>
    <p:extLst>
      <p:ext uri="{BB962C8B-B14F-4D97-AF65-F5344CB8AC3E}">
        <p14:creationId xmlns:p14="http://schemas.microsoft.com/office/powerpoint/2010/main" val="390700643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F1832C-74C4-D08D-057A-D7240A6973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M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7BD00B5-FF77-B5DF-3654-F53148FE50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3EBB8-5D93-480B-8E51-8A5CAA849165}" type="datetimeFigureOut">
              <a:rPr lang="fr-MR" smtClean="0"/>
              <a:t>06/15/2026</a:t>
            </a:fld>
            <a:endParaRPr lang="fr-M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5024B3-57E5-19E4-125C-23912CDF7F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99BF40-57D4-7BF5-24B0-D5AC2E7BF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5C44B2-EF24-47DE-AE96-011251291C83}" type="slidenum">
              <a:rPr lang="fr-MR" smtClean="0"/>
              <a:t>‹#›</a:t>
            </a:fld>
            <a:endParaRPr lang="fr-MR"/>
          </a:p>
        </p:txBody>
      </p:sp>
    </p:spTree>
    <p:extLst>
      <p:ext uri="{BB962C8B-B14F-4D97-AF65-F5344CB8AC3E}">
        <p14:creationId xmlns:p14="http://schemas.microsoft.com/office/powerpoint/2010/main" val="25568327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9CB9EDB-06FE-C23C-B5CD-2E6D9E09E6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3EBB8-5D93-480B-8E51-8A5CAA849165}" type="datetimeFigureOut">
              <a:rPr lang="fr-MR" smtClean="0"/>
              <a:t>06/15/2026</a:t>
            </a:fld>
            <a:endParaRPr lang="fr-M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35B1D1-19AC-4C8F-102E-6B9D4827F9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BD9320-18B3-30FB-DEB3-C2655B7B6C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5C44B2-EF24-47DE-AE96-011251291C83}" type="slidenum">
              <a:rPr lang="fr-MR" smtClean="0"/>
              <a:t>‹#›</a:t>
            </a:fld>
            <a:endParaRPr lang="fr-MR"/>
          </a:p>
        </p:txBody>
      </p:sp>
    </p:spTree>
    <p:extLst>
      <p:ext uri="{BB962C8B-B14F-4D97-AF65-F5344CB8AC3E}">
        <p14:creationId xmlns:p14="http://schemas.microsoft.com/office/powerpoint/2010/main" val="422659192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19A5D-24C2-8C59-6720-81DDFAB93C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M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1D81AB-ECD4-BB5F-CFC7-1D75D4FDFA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M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890C4C-EF13-8D1E-360A-97819D9A79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1BB124-26B1-EB8A-C966-DF3661FC5E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3EBB8-5D93-480B-8E51-8A5CAA849165}" type="datetimeFigureOut">
              <a:rPr lang="fr-MR" smtClean="0"/>
              <a:t>06/15/2026</a:t>
            </a:fld>
            <a:endParaRPr lang="fr-M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75821E-FB54-6CA4-7676-4D6925328B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5DCB7F-732C-AEAE-340A-5DAC3A17CC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5C44B2-EF24-47DE-AE96-011251291C83}" type="slidenum">
              <a:rPr lang="fr-MR" smtClean="0"/>
              <a:t>‹#›</a:t>
            </a:fld>
            <a:endParaRPr lang="fr-MR"/>
          </a:p>
        </p:txBody>
      </p:sp>
    </p:spTree>
    <p:extLst>
      <p:ext uri="{BB962C8B-B14F-4D97-AF65-F5344CB8AC3E}">
        <p14:creationId xmlns:p14="http://schemas.microsoft.com/office/powerpoint/2010/main" val="365480895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7AF440-CD8A-4943-1FD5-BE63210DDE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M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EC9AB6A-9943-7249-9A67-3A4F825587E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0012" y="877697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M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73E04B-6618-31B8-5A39-52397A8556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9861DC-6EBF-849E-8A32-B3772FDCAD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3EBB8-5D93-480B-8E51-8A5CAA849165}" type="datetimeFigureOut">
              <a:rPr lang="fr-MR" smtClean="0"/>
              <a:t>06/15/2026</a:t>
            </a:fld>
            <a:endParaRPr lang="fr-M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AB806D-E989-88F3-0756-D383D00B27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7EE12F-1C45-ACA9-7773-9C07A40093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>
            <a:noFill/>
          </a:ln>
        </p:spPr>
        <p:txBody>
          <a:bodyPr/>
          <a:lstStyle/>
          <a:p>
            <a:fld id="{395C44B2-EF24-47DE-AE96-011251291C83}" type="slidenum">
              <a:rPr lang="fr-MR" smtClean="0"/>
              <a:t>‹#›</a:t>
            </a:fld>
            <a:endParaRPr lang="fr-MR" dirty="0"/>
          </a:p>
        </p:txBody>
      </p:sp>
    </p:spTree>
    <p:extLst>
      <p:ext uri="{BB962C8B-B14F-4D97-AF65-F5344CB8AC3E}">
        <p14:creationId xmlns:p14="http://schemas.microsoft.com/office/powerpoint/2010/main" val="29689063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95E10-8599-B819-D2B3-C43A4D088F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M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C43696-AE4D-4A6B-679F-38DD074709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M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F39C89-4BC4-D1B0-4625-72532C865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3EBB8-5D93-480B-8E51-8A5CAA849165}" type="datetimeFigureOut">
              <a:rPr lang="fr-MR" smtClean="0"/>
              <a:t>06/15/2026</a:t>
            </a:fld>
            <a:endParaRPr lang="fr-M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B876F2-967E-87A9-814E-17496AC0B8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842E55-53FB-FB5A-BFF7-25BA3CF82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5C44B2-EF24-47DE-AE96-011251291C83}" type="slidenum">
              <a:rPr lang="fr-MR" smtClean="0"/>
              <a:t>‹#›</a:t>
            </a:fld>
            <a:endParaRPr lang="fr-MR"/>
          </a:p>
        </p:txBody>
      </p:sp>
    </p:spTree>
    <p:extLst>
      <p:ext uri="{BB962C8B-B14F-4D97-AF65-F5344CB8AC3E}">
        <p14:creationId xmlns:p14="http://schemas.microsoft.com/office/powerpoint/2010/main" val="50359422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B8CDA6A-623C-7937-DBD3-F15B800B5F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M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16D826D-3ED8-52EC-3975-C7AC80C906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M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DA1830-7D8A-A578-5893-4C1534ACF0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3EBB8-5D93-480B-8E51-8A5CAA849165}" type="datetimeFigureOut">
              <a:rPr lang="fr-MR" smtClean="0"/>
              <a:t>06/15/2026</a:t>
            </a:fld>
            <a:endParaRPr lang="fr-M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7444A3-376D-7076-CFB4-34025B4688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8783E9-9A34-9CBF-98A5-97BCD73148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5C44B2-EF24-47DE-AE96-011251291C83}" type="slidenum">
              <a:rPr lang="fr-MR" smtClean="0"/>
              <a:t>‹#›</a:t>
            </a:fld>
            <a:endParaRPr lang="fr-MR"/>
          </a:p>
        </p:txBody>
      </p:sp>
    </p:spTree>
    <p:extLst>
      <p:ext uri="{BB962C8B-B14F-4D97-AF65-F5344CB8AC3E}">
        <p14:creationId xmlns:p14="http://schemas.microsoft.com/office/powerpoint/2010/main" val="31936451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81068FA9-660D-46A3-9FD6-2730BA6F2B1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45660" y="191069"/>
            <a:ext cx="1624084" cy="1624084"/>
          </a:xfrm>
          <a:custGeom>
            <a:avLst/>
            <a:gdLst>
              <a:gd name="connsiteX0" fmla="*/ 812042 w 1624084"/>
              <a:gd name="connsiteY0" fmla="*/ 0 h 1624084"/>
              <a:gd name="connsiteX1" fmla="*/ 1624084 w 1624084"/>
              <a:gd name="connsiteY1" fmla="*/ 812042 h 1624084"/>
              <a:gd name="connsiteX2" fmla="*/ 812042 w 1624084"/>
              <a:gd name="connsiteY2" fmla="*/ 1624084 h 1624084"/>
              <a:gd name="connsiteX3" fmla="*/ 0 w 1624084"/>
              <a:gd name="connsiteY3" fmla="*/ 812042 h 1624084"/>
              <a:gd name="connsiteX4" fmla="*/ 812042 w 1624084"/>
              <a:gd name="connsiteY4" fmla="*/ 0 h 16240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24084" h="1624084">
                <a:moveTo>
                  <a:pt x="812042" y="0"/>
                </a:moveTo>
                <a:cubicBezTo>
                  <a:pt x="1260520" y="0"/>
                  <a:pt x="1624084" y="363564"/>
                  <a:pt x="1624084" y="812042"/>
                </a:cubicBezTo>
                <a:cubicBezTo>
                  <a:pt x="1624084" y="1260520"/>
                  <a:pt x="1260520" y="1624084"/>
                  <a:pt x="812042" y="1624084"/>
                </a:cubicBezTo>
                <a:cubicBezTo>
                  <a:pt x="363564" y="1624084"/>
                  <a:pt x="0" y="1260520"/>
                  <a:pt x="0" y="812042"/>
                </a:cubicBezTo>
                <a:cubicBezTo>
                  <a:pt x="0" y="363564"/>
                  <a:pt x="363564" y="0"/>
                  <a:pt x="812042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fr-FR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645A909C-343A-4950-AF75-AACF7973836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0322257" y="191069"/>
            <a:ext cx="1624084" cy="1624084"/>
          </a:xfrm>
          <a:custGeom>
            <a:avLst/>
            <a:gdLst>
              <a:gd name="connsiteX0" fmla="*/ 812042 w 1624084"/>
              <a:gd name="connsiteY0" fmla="*/ 0 h 1624084"/>
              <a:gd name="connsiteX1" fmla="*/ 1624084 w 1624084"/>
              <a:gd name="connsiteY1" fmla="*/ 812042 h 1624084"/>
              <a:gd name="connsiteX2" fmla="*/ 812042 w 1624084"/>
              <a:gd name="connsiteY2" fmla="*/ 1624084 h 1624084"/>
              <a:gd name="connsiteX3" fmla="*/ 0 w 1624084"/>
              <a:gd name="connsiteY3" fmla="*/ 812042 h 1624084"/>
              <a:gd name="connsiteX4" fmla="*/ 812042 w 1624084"/>
              <a:gd name="connsiteY4" fmla="*/ 0 h 16240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24084" h="1624084">
                <a:moveTo>
                  <a:pt x="812042" y="0"/>
                </a:moveTo>
                <a:cubicBezTo>
                  <a:pt x="1260520" y="0"/>
                  <a:pt x="1624084" y="363564"/>
                  <a:pt x="1624084" y="812042"/>
                </a:cubicBezTo>
                <a:cubicBezTo>
                  <a:pt x="1624084" y="1260520"/>
                  <a:pt x="1260520" y="1624084"/>
                  <a:pt x="812042" y="1624084"/>
                </a:cubicBezTo>
                <a:cubicBezTo>
                  <a:pt x="363564" y="1624084"/>
                  <a:pt x="0" y="1260520"/>
                  <a:pt x="0" y="812042"/>
                </a:cubicBezTo>
                <a:cubicBezTo>
                  <a:pt x="0" y="363564"/>
                  <a:pt x="363564" y="0"/>
                  <a:pt x="812042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529590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4D95C12-5BEE-4B97-CEC4-DF0A72F8B6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M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19374A-9D2E-4A26-F531-DCF3D71939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M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A981F-4114-2E9D-6E2F-31B913A8E0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M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7B70B6-633C-462C-2FFD-BC8B13088E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M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11D7B3-C4A0-8BB3-A855-5F6676E635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95C44B2-EF24-47DE-AE96-011251291C83}" type="slidenum">
              <a:rPr lang="fr-MR" smtClean="0"/>
              <a:t>‹#›</a:t>
            </a:fld>
            <a:endParaRPr lang="fr-MR"/>
          </a:p>
        </p:txBody>
      </p:sp>
    </p:spTree>
    <p:extLst>
      <p:ext uri="{BB962C8B-B14F-4D97-AF65-F5344CB8AC3E}">
        <p14:creationId xmlns:p14="http://schemas.microsoft.com/office/powerpoint/2010/main" val="17539321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M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4D95C12-5BEE-4B97-CEC4-DF0A72F8B6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M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19374A-9D2E-4A26-F531-DCF3D71939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M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A981F-4114-2E9D-6E2F-31B913A8E0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53EBB8-5D93-480B-8E51-8A5CAA849165}" type="datetimeFigureOut">
              <a:rPr lang="fr-MR" smtClean="0"/>
              <a:t>06/15/2026</a:t>
            </a:fld>
            <a:endParaRPr lang="fr-M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7B70B6-633C-462C-2FFD-BC8B13088E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M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11D7B3-C4A0-8BB3-A855-5F6676E635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95C44B2-EF24-47DE-AE96-011251291C83}" type="slidenum">
              <a:rPr lang="fr-MR" smtClean="0"/>
              <a:t>‹#›</a:t>
            </a:fld>
            <a:endParaRPr lang="fr-MR"/>
          </a:p>
        </p:txBody>
      </p:sp>
    </p:spTree>
    <p:extLst>
      <p:ext uri="{BB962C8B-B14F-4D97-AF65-F5344CB8AC3E}">
        <p14:creationId xmlns:p14="http://schemas.microsoft.com/office/powerpoint/2010/main" val="20528014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M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3319650" y="3158110"/>
            <a:ext cx="6094428" cy="1692771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sz="4400" b="1" dirty="0">
                <a:solidFill>
                  <a:srgbClr val="1A56DB"/>
                </a:solidFill>
              </a:rPr>
              <a:t>CampusConnect</a:t>
            </a:r>
            <a:endParaRPr lang="es-ES" sz="4400" b="1" dirty="0">
              <a:solidFill>
                <a:srgbClr val="1A56DB"/>
              </a:solidFill>
            </a:endParaRPr>
          </a:p>
          <a:p>
            <a:pPr algn="ctr"/>
            <a:r>
              <a:rPr lang="fr-FR" sz="2000" b="1" dirty="0">
                <a:solidFill>
                  <a:srgbClr val="1E293B"/>
                </a:solidFill>
              </a:rPr>
              <a:t>Plateforme de gestion de la vie associative et estudiantine</a:t>
            </a:r>
          </a:p>
          <a:p>
            <a:pPr algn="ctr"/>
            <a:endParaRPr sz="2000" b="1" dirty="0">
              <a:solidFill>
                <a:srgbClr val="1A56DB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959256" y="6462762"/>
            <a:ext cx="440703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1800" b="1" dirty="0"/>
              <a:t>Année universitaire : 2025-2026</a:t>
            </a:r>
            <a:endParaRPr sz="1600" b="1" dirty="0"/>
          </a:p>
        </p:txBody>
      </p:sp>
      <p:sp>
        <p:nvSpPr>
          <p:cNvPr id="8" name="Shape 0">
            <a:extLst>
              <a:ext uri="{FF2B5EF4-FFF2-40B4-BE49-F238E27FC236}">
                <a16:creationId xmlns:a16="http://schemas.microsoft.com/office/drawing/2014/main" id="{AD614301-C8B5-BDCE-5541-17BE14C3CFF8}"/>
              </a:ext>
            </a:extLst>
          </p:cNvPr>
          <p:cNvSpPr/>
          <p:nvPr/>
        </p:nvSpPr>
        <p:spPr>
          <a:xfrm>
            <a:off x="565608" y="297180"/>
            <a:ext cx="11029361" cy="1417320"/>
          </a:xfrm>
          <a:prstGeom prst="rect">
            <a:avLst/>
          </a:prstGeom>
          <a:solidFill>
            <a:srgbClr val="FFFFFF"/>
          </a:solidFill>
          <a:ln w="254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s-E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A49B70A-35C5-A09E-08CF-71A96D93E3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0922" y="395238"/>
            <a:ext cx="7696200" cy="115252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5959E85-CF42-FAE3-9DE7-9804C2EB79D8}"/>
              </a:ext>
            </a:extLst>
          </p:cNvPr>
          <p:cNvSpPr txBox="1"/>
          <p:nvPr/>
        </p:nvSpPr>
        <p:spPr>
          <a:xfrm>
            <a:off x="4956847" y="2166497"/>
            <a:ext cx="241184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4000" b="1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</a:t>
            </a:r>
            <a:r>
              <a:rPr lang="en-US" sz="4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</a:t>
            </a:r>
            <a:endParaRPr lang="en-US" sz="40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3E11073-0A55-ED01-10D6-6CAA12456C16}"/>
              </a:ext>
            </a:extLst>
          </p:cNvPr>
          <p:cNvSpPr txBox="1"/>
          <p:nvPr/>
        </p:nvSpPr>
        <p:spPr>
          <a:xfrm>
            <a:off x="417137" y="5347187"/>
            <a:ext cx="279740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Réalisé par :</a:t>
            </a:r>
            <a:endParaRPr lang="en-US" sz="1800" b="1" dirty="0"/>
          </a:p>
          <a:p>
            <a:pPr marL="0" indent="0">
              <a:buNone/>
            </a:pPr>
            <a:r>
              <a:rPr lang="en-US" sz="1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Saleck BAYA  –  C25362</a:t>
            </a:r>
            <a:endParaRPr lang="en-US" sz="1800" b="1" dirty="0"/>
          </a:p>
          <a:p>
            <a:pPr marL="0" indent="0">
              <a:buNone/>
            </a:pPr>
            <a:r>
              <a:rPr lang="en-US" sz="1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Moussa EREBIH  –  C21397</a:t>
            </a:r>
            <a:endParaRPr lang="en-US" sz="1800"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0">
            <a:extLst>
              <a:ext uri="{FF2B5EF4-FFF2-40B4-BE49-F238E27FC236}">
                <a16:creationId xmlns:a16="http://schemas.microsoft.com/office/drawing/2014/main" id="{F06048C7-FF54-027B-4326-889492BF0B90}"/>
              </a:ext>
            </a:extLst>
          </p:cNvPr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6B140BC-7B8B-AB7C-8B70-D9FBA2374D94}"/>
              </a:ext>
            </a:extLst>
          </p:cNvPr>
          <p:cNvSpPr txBox="1"/>
          <p:nvPr/>
        </p:nvSpPr>
        <p:spPr>
          <a:xfrm>
            <a:off x="188536" y="202942"/>
            <a:ext cx="1162324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200" dirty="0">
                <a:solidFill>
                  <a:schemeClr val="bg1"/>
                </a:solidFill>
              </a:rPr>
              <a:t>PLAN</a:t>
            </a:r>
          </a:p>
          <a:p>
            <a:endParaRPr lang="es-ES" sz="3200" dirty="0"/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0FF0A007-F69B-B14F-1E45-6B877DE50426}"/>
              </a:ext>
            </a:extLst>
          </p:cNvPr>
          <p:cNvSpPr/>
          <p:nvPr/>
        </p:nvSpPr>
        <p:spPr>
          <a:xfrm>
            <a:off x="559009" y="1193716"/>
            <a:ext cx="11318764" cy="493776"/>
          </a:xfrm>
          <a:prstGeom prst="roundRect">
            <a:avLst>
              <a:gd name="adj" fmla="val 11111"/>
            </a:avLst>
          </a:prstGeom>
          <a:solidFill>
            <a:srgbClr val="F4F6F9"/>
          </a:solidFill>
          <a:ln w="12700">
            <a:solidFill>
              <a:srgbClr val="C8D6E8"/>
            </a:solidFill>
            <a:prstDash val="solid"/>
          </a:ln>
        </p:spPr>
        <p:txBody>
          <a:bodyPr/>
          <a:lstStyle/>
          <a:p>
            <a:r>
              <a:rPr lang="es-ES" sz="1800" b="1" dirty="0">
                <a:solidFill>
                  <a:schemeClr val="tx2">
                    <a:lumMod val="50000"/>
                  </a:schemeClr>
                </a:solidFill>
              </a:rPr>
              <a:t>01   Contexte &amp; Problématique</a:t>
            </a:r>
          </a:p>
          <a:p>
            <a:endParaRPr lang="es-ES" b="1" dirty="0">
              <a:solidFill>
                <a:schemeClr val="tx2">
                  <a:lumMod val="50000"/>
                </a:schemeClr>
              </a:solidFill>
            </a:endParaRPr>
          </a:p>
          <a:p>
            <a:endParaRPr lang="es-ES" b="1" dirty="0">
              <a:solidFill>
                <a:schemeClr val="tx2">
                  <a:lumMod val="50000"/>
                </a:schemeClr>
              </a:solidFill>
            </a:endParaRPr>
          </a:p>
          <a:p>
            <a:endParaRPr lang="es-ES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1D82F761-08F3-CA9D-7F08-85C9E701D17E}"/>
              </a:ext>
            </a:extLst>
          </p:cNvPr>
          <p:cNvSpPr/>
          <p:nvPr/>
        </p:nvSpPr>
        <p:spPr>
          <a:xfrm>
            <a:off x="559009" y="1758146"/>
            <a:ext cx="11318764" cy="493776"/>
          </a:xfrm>
          <a:prstGeom prst="roundRect">
            <a:avLst>
              <a:gd name="adj" fmla="val 11111"/>
            </a:avLst>
          </a:prstGeom>
          <a:solidFill>
            <a:srgbClr val="D6E4F0"/>
          </a:solidFill>
          <a:ln w="12700">
            <a:solidFill>
              <a:srgbClr val="A8C4DC"/>
            </a:solidFill>
            <a:prstDash val="solid"/>
          </a:ln>
        </p:spPr>
        <p:txBody>
          <a:bodyPr/>
          <a:lstStyle/>
          <a:p>
            <a:r>
              <a:rPr lang="es-ES" sz="1800" b="1" dirty="0">
                <a:solidFill>
                  <a:schemeClr val="tx2">
                    <a:lumMod val="50000"/>
                  </a:schemeClr>
                </a:solidFill>
              </a:rPr>
              <a:t>02   Objectifs du projet</a:t>
            </a:r>
          </a:p>
          <a:p>
            <a:endParaRPr lang="es-ES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E42707F4-20B7-7AEF-AD8F-5D60731446BE}"/>
              </a:ext>
            </a:extLst>
          </p:cNvPr>
          <p:cNvSpPr/>
          <p:nvPr/>
        </p:nvSpPr>
        <p:spPr>
          <a:xfrm>
            <a:off x="559009" y="2322576"/>
            <a:ext cx="11318764" cy="493776"/>
          </a:xfrm>
          <a:prstGeom prst="roundRect">
            <a:avLst>
              <a:gd name="adj" fmla="val 11111"/>
            </a:avLst>
          </a:prstGeom>
          <a:solidFill>
            <a:srgbClr val="F4F6F9"/>
          </a:solidFill>
          <a:ln w="12700">
            <a:solidFill>
              <a:srgbClr val="C8D6E8"/>
            </a:solidFill>
            <a:prstDash val="solid"/>
          </a:ln>
        </p:spPr>
        <p:txBody>
          <a:bodyPr/>
          <a:lstStyle/>
          <a:p>
            <a:r>
              <a:rPr lang="es-ES" sz="1800" b="1" dirty="0">
                <a:solidFill>
                  <a:schemeClr val="tx2">
                    <a:lumMod val="50000"/>
                  </a:schemeClr>
                </a:solidFill>
              </a:rPr>
              <a:t>03   Architecture technique</a:t>
            </a:r>
          </a:p>
          <a:p>
            <a:endParaRPr lang="es-ES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747E30FC-7CF4-43CC-BE67-A91E07EDD7A3}"/>
              </a:ext>
            </a:extLst>
          </p:cNvPr>
          <p:cNvSpPr/>
          <p:nvPr/>
        </p:nvSpPr>
        <p:spPr>
          <a:xfrm>
            <a:off x="559009" y="2887006"/>
            <a:ext cx="11318764" cy="493776"/>
          </a:xfrm>
          <a:prstGeom prst="roundRect">
            <a:avLst>
              <a:gd name="adj" fmla="val 11111"/>
            </a:avLst>
          </a:prstGeom>
          <a:solidFill>
            <a:srgbClr val="D6E4F0"/>
          </a:solidFill>
          <a:ln w="12700">
            <a:solidFill>
              <a:srgbClr val="A8C4DC"/>
            </a:solidFill>
            <a:prstDash val="solid"/>
          </a:ln>
        </p:spPr>
        <p:txBody>
          <a:bodyPr/>
          <a:lstStyle/>
          <a:p>
            <a:r>
              <a:rPr lang="es-ES" sz="1800" b="1" dirty="0">
                <a:solidFill>
                  <a:schemeClr val="tx2">
                    <a:lumMod val="50000"/>
                  </a:schemeClr>
                </a:solidFill>
              </a:rPr>
              <a:t>04   Fonctionnalités clés</a:t>
            </a:r>
          </a:p>
          <a:p>
            <a:endParaRPr lang="es-ES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B9DCD963-BA73-750A-5DD3-C4A3B984A24C}"/>
              </a:ext>
            </a:extLst>
          </p:cNvPr>
          <p:cNvSpPr/>
          <p:nvPr/>
        </p:nvSpPr>
        <p:spPr>
          <a:xfrm>
            <a:off x="559009" y="3477219"/>
            <a:ext cx="11318764" cy="493776"/>
          </a:xfrm>
          <a:prstGeom prst="roundRect">
            <a:avLst>
              <a:gd name="adj" fmla="val 11111"/>
            </a:avLst>
          </a:prstGeom>
          <a:solidFill>
            <a:srgbClr val="F4F6F9"/>
          </a:solidFill>
          <a:ln w="12700">
            <a:solidFill>
              <a:srgbClr val="C8D6E8"/>
            </a:solidFill>
            <a:prstDash val="solid"/>
          </a:ln>
        </p:spPr>
        <p:txBody>
          <a:bodyPr/>
          <a:lstStyle/>
          <a:p>
            <a:r>
              <a:rPr lang="es-ES" sz="1800" b="1" dirty="0">
                <a:solidFill>
                  <a:schemeClr val="tx2">
                    <a:lumMod val="50000"/>
                  </a:schemeClr>
                </a:solidFill>
              </a:rPr>
              <a:t>05   Modèle économique (Freemium)</a:t>
            </a:r>
          </a:p>
          <a:p>
            <a:endParaRPr lang="es-ES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3" name="Shape 12">
            <a:extLst>
              <a:ext uri="{FF2B5EF4-FFF2-40B4-BE49-F238E27FC236}">
                <a16:creationId xmlns:a16="http://schemas.microsoft.com/office/drawing/2014/main" id="{242D1D12-92A9-025C-9C97-8A9B190E6B6A}"/>
              </a:ext>
            </a:extLst>
          </p:cNvPr>
          <p:cNvSpPr/>
          <p:nvPr/>
        </p:nvSpPr>
        <p:spPr>
          <a:xfrm>
            <a:off x="559009" y="4656671"/>
            <a:ext cx="11318764" cy="493776"/>
          </a:xfrm>
          <a:prstGeom prst="roundRect">
            <a:avLst>
              <a:gd name="adj" fmla="val 11111"/>
            </a:avLst>
          </a:prstGeom>
          <a:solidFill>
            <a:srgbClr val="D6E4F0"/>
          </a:solidFill>
          <a:ln w="12700">
            <a:solidFill>
              <a:srgbClr val="A8C4DC"/>
            </a:solidFill>
            <a:prstDash val="solid"/>
          </a:ln>
        </p:spPr>
        <p:txBody>
          <a:bodyPr/>
          <a:lstStyle/>
          <a:p>
            <a:r>
              <a:rPr lang="es-ES" sz="1800" b="1" dirty="0">
                <a:solidFill>
                  <a:schemeClr val="tx2">
                    <a:lumMod val="50000"/>
                  </a:schemeClr>
                </a:solidFill>
              </a:rPr>
              <a:t>07   Méthodologie Scrum &amp; Sprints</a:t>
            </a:r>
          </a:p>
          <a:p>
            <a:endParaRPr lang="es-ES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7B974A6C-2BEE-B1AB-CADF-C96B7D3546CB}"/>
              </a:ext>
            </a:extLst>
          </p:cNvPr>
          <p:cNvSpPr/>
          <p:nvPr/>
        </p:nvSpPr>
        <p:spPr>
          <a:xfrm>
            <a:off x="559009" y="5221101"/>
            <a:ext cx="11318764" cy="493776"/>
          </a:xfrm>
          <a:prstGeom prst="roundRect">
            <a:avLst>
              <a:gd name="adj" fmla="val 11111"/>
            </a:avLst>
          </a:prstGeom>
          <a:solidFill>
            <a:srgbClr val="F4F6F9"/>
          </a:solidFill>
          <a:ln w="12700">
            <a:solidFill>
              <a:srgbClr val="C8D6E8"/>
            </a:solidFill>
            <a:prstDash val="solid"/>
          </a:ln>
        </p:spPr>
        <p:txBody>
          <a:bodyPr/>
          <a:lstStyle/>
          <a:p>
            <a:r>
              <a:rPr lang="es-ES" sz="1800" b="1" dirty="0">
                <a:solidFill>
                  <a:schemeClr val="tx2">
                    <a:lumMod val="50000"/>
                  </a:schemeClr>
                </a:solidFill>
              </a:rPr>
              <a:t>08   Démonstration</a:t>
            </a:r>
          </a:p>
          <a:p>
            <a:endParaRPr lang="es-ES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52A09728-2D78-51F4-1B50-168395426FCF}"/>
              </a:ext>
            </a:extLst>
          </p:cNvPr>
          <p:cNvSpPr/>
          <p:nvPr/>
        </p:nvSpPr>
        <p:spPr>
          <a:xfrm>
            <a:off x="559009" y="5820222"/>
            <a:ext cx="11318764" cy="493776"/>
          </a:xfrm>
          <a:prstGeom prst="roundRect">
            <a:avLst>
              <a:gd name="adj" fmla="val 11111"/>
            </a:avLst>
          </a:prstGeom>
          <a:solidFill>
            <a:srgbClr val="D6E4F0"/>
          </a:solidFill>
          <a:ln w="12700">
            <a:solidFill>
              <a:srgbClr val="A8C4DC"/>
            </a:solidFill>
            <a:prstDash val="solid"/>
          </a:ln>
        </p:spPr>
        <p:txBody>
          <a:bodyPr/>
          <a:lstStyle/>
          <a:p>
            <a:r>
              <a:rPr lang="es-ES" sz="1800" b="1" dirty="0">
                <a:solidFill>
                  <a:schemeClr val="tx2">
                    <a:lumMod val="50000"/>
                  </a:schemeClr>
                </a:solidFill>
              </a:rPr>
              <a:t>09   Bilan &amp; Perspectives</a:t>
            </a:r>
          </a:p>
          <a:p>
            <a:endParaRPr lang="es-ES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73C839D8-6757-5D5D-3944-A35A7F9A1F9D}"/>
              </a:ext>
            </a:extLst>
          </p:cNvPr>
          <p:cNvSpPr/>
          <p:nvPr/>
        </p:nvSpPr>
        <p:spPr>
          <a:xfrm>
            <a:off x="11560325" y="6396529"/>
            <a:ext cx="502920" cy="3657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</a:t>
            </a:r>
            <a:endParaRPr lang="en-US" dirty="0"/>
          </a:p>
          <a:p>
            <a:endParaRPr lang="es-ES" dirty="0"/>
          </a:p>
        </p:txBody>
      </p:sp>
      <p:sp>
        <p:nvSpPr>
          <p:cNvPr id="2" name="Shape 12">
            <a:extLst>
              <a:ext uri="{FF2B5EF4-FFF2-40B4-BE49-F238E27FC236}">
                <a16:creationId xmlns:a16="http://schemas.microsoft.com/office/drawing/2014/main" id="{1E252FBC-7CA6-DED3-F017-A5636143E033}"/>
              </a:ext>
            </a:extLst>
          </p:cNvPr>
          <p:cNvSpPr/>
          <p:nvPr/>
        </p:nvSpPr>
        <p:spPr>
          <a:xfrm>
            <a:off x="559009" y="4053526"/>
            <a:ext cx="11318764" cy="493776"/>
          </a:xfrm>
          <a:prstGeom prst="roundRect">
            <a:avLst>
              <a:gd name="adj" fmla="val 11111"/>
            </a:avLst>
          </a:prstGeom>
          <a:solidFill>
            <a:srgbClr val="D6E4F0"/>
          </a:solidFill>
          <a:ln w="12700">
            <a:solidFill>
              <a:srgbClr val="A8C4DC"/>
            </a:solidFill>
            <a:prstDash val="solid"/>
          </a:ln>
        </p:spPr>
        <p:txBody>
          <a:bodyPr/>
          <a:lstStyle/>
          <a:p>
            <a:r>
              <a:rPr lang="es-ES" sz="1800" b="1" dirty="0">
                <a:solidFill>
                  <a:schemeClr val="tx2">
                    <a:lumMod val="50000"/>
                  </a:schemeClr>
                </a:solidFill>
              </a:rPr>
              <a:t>06   Conceptions</a:t>
            </a:r>
          </a:p>
          <a:p>
            <a:endParaRPr lang="es-ES" b="1" dirty="0">
              <a:solidFill>
                <a:schemeClr val="tx2">
                  <a:lumMod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263951" y="2154025"/>
            <a:ext cx="7975076" cy="2205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800"/>
              </a:spcBef>
              <a:buFont typeface="Wingdings" panose="05000000000000000000" pitchFamily="2" charset="2"/>
              <a:buChar char="Ø"/>
            </a:pPr>
            <a:r>
              <a:rPr sz="1800" b="1" dirty="0"/>
              <a:t>❌  Manque de visibilité des associations étudiantes</a:t>
            </a:r>
          </a:p>
          <a:p>
            <a:pPr marL="285750" indent="-285750">
              <a:spcBef>
                <a:spcPts val="800"/>
              </a:spcBef>
              <a:buFont typeface="Wingdings" panose="05000000000000000000" pitchFamily="2" charset="2"/>
              <a:buChar char="Ø"/>
            </a:pPr>
            <a:r>
              <a:rPr sz="1800" b="1" dirty="0"/>
              <a:t>❌  Gestion des inscriptions aux </a:t>
            </a:r>
            <a:r>
              <a:rPr sz="1800" b="1" dirty="0" err="1"/>
              <a:t>événements</a:t>
            </a:r>
            <a:r>
              <a:rPr sz="1800" b="1" dirty="0"/>
              <a:t> </a:t>
            </a:r>
            <a:r>
              <a:rPr sz="1800" b="1" dirty="0" err="1"/>
              <a:t>dispersée</a:t>
            </a:r>
            <a:r>
              <a:rPr sz="1800" b="1" dirty="0"/>
              <a:t> (papier, WhatsApp)</a:t>
            </a:r>
          </a:p>
          <a:p>
            <a:pPr marL="285750" indent="-285750">
              <a:spcBef>
                <a:spcPts val="800"/>
              </a:spcBef>
              <a:buFont typeface="Wingdings" panose="05000000000000000000" pitchFamily="2" charset="2"/>
              <a:buChar char="Ø"/>
            </a:pPr>
            <a:r>
              <a:rPr sz="1800" b="1" dirty="0"/>
              <a:t>❌  </a:t>
            </a:r>
            <a:r>
              <a:rPr sz="1800" b="1" dirty="0" err="1"/>
              <a:t>Aucune</a:t>
            </a:r>
            <a:r>
              <a:rPr sz="1800" b="1" dirty="0"/>
              <a:t> </a:t>
            </a:r>
            <a:r>
              <a:rPr sz="1800" b="1" dirty="0" err="1"/>
              <a:t>centralisation</a:t>
            </a:r>
            <a:r>
              <a:rPr sz="1800" b="1" dirty="0"/>
              <a:t> des </a:t>
            </a:r>
            <a:r>
              <a:rPr sz="1800" b="1" dirty="0" err="1"/>
              <a:t>ressources</a:t>
            </a:r>
            <a:r>
              <a:rPr sz="1800" b="1" dirty="0"/>
              <a:t>, salles et </a:t>
            </a:r>
            <a:r>
              <a:rPr sz="1800" b="1" dirty="0" err="1"/>
              <a:t>créneaux</a:t>
            </a:r>
            <a:endParaRPr b="1" dirty="0"/>
          </a:p>
          <a:p>
            <a:pPr marL="285750" indent="-285750">
              <a:spcBef>
                <a:spcPts val="800"/>
              </a:spcBef>
              <a:buFont typeface="Wingdings" panose="05000000000000000000" pitchFamily="2" charset="2"/>
              <a:buChar char="Ø"/>
            </a:pPr>
            <a:r>
              <a:rPr sz="1800" b="1" dirty="0"/>
              <a:t>❌  Pas de </a:t>
            </a:r>
            <a:r>
              <a:rPr sz="1800" b="1" dirty="0" err="1"/>
              <a:t>suivi</a:t>
            </a:r>
            <a:r>
              <a:rPr sz="1800" b="1" dirty="0"/>
              <a:t> financier transparent pour les </a:t>
            </a:r>
            <a:r>
              <a:rPr sz="1800" b="1" dirty="0" err="1"/>
              <a:t>responsables</a:t>
            </a:r>
            <a:r>
              <a:rPr sz="1800" b="1" dirty="0"/>
              <a:t> </a:t>
            </a:r>
            <a:r>
              <a:rPr sz="1800" b="1" dirty="0" err="1"/>
              <a:t>d'asso</a:t>
            </a:r>
            <a:endParaRPr b="1" dirty="0"/>
          </a:p>
          <a:p>
            <a:pPr>
              <a:spcBef>
                <a:spcPts val="800"/>
              </a:spcBef>
            </a:pPr>
            <a:endParaRPr sz="1400" b="0" dirty="0">
              <a:solidFill>
                <a:srgbClr val="1E293B"/>
              </a:solidFill>
            </a:endParaRPr>
          </a:p>
          <a:p>
            <a:pPr>
              <a:spcBef>
                <a:spcPts val="800"/>
              </a:spcBef>
            </a:pPr>
            <a:r>
              <a:rPr sz="1800" b="1" dirty="0" err="1"/>
              <a:t>Besoin</a:t>
            </a:r>
            <a:r>
              <a:rPr sz="1800" b="1" dirty="0"/>
              <a:t> </a:t>
            </a:r>
            <a:r>
              <a:rPr lang="es-ES" sz="1800" b="1" dirty="0">
                <a:sym typeface="Wingdings" panose="05000000000000000000" pitchFamily="2" charset="2"/>
              </a:rPr>
              <a:t> </a:t>
            </a:r>
            <a:r>
              <a:rPr sz="1800" b="1" dirty="0" err="1"/>
              <a:t>une</a:t>
            </a:r>
            <a:r>
              <a:rPr sz="1800" b="1" dirty="0"/>
              <a:t> </a:t>
            </a:r>
            <a:r>
              <a:rPr sz="1800" b="1" dirty="0" err="1"/>
              <a:t>plateforme</a:t>
            </a:r>
            <a:r>
              <a:rPr sz="1800" b="1" dirty="0"/>
              <a:t> </a:t>
            </a:r>
            <a:r>
              <a:rPr sz="1800" b="1" dirty="0" err="1"/>
              <a:t>unifiée</a:t>
            </a:r>
            <a:r>
              <a:rPr sz="1800" b="1" dirty="0"/>
              <a:t>, accessible et </a:t>
            </a:r>
            <a:r>
              <a:rPr sz="1800" b="1" dirty="0" err="1"/>
              <a:t>moderne</a:t>
            </a:r>
            <a:endParaRPr b="1" dirty="0"/>
          </a:p>
        </p:txBody>
      </p:sp>
      <p:sp>
        <p:nvSpPr>
          <p:cNvPr id="9" name="Shape 0">
            <a:extLst>
              <a:ext uri="{FF2B5EF4-FFF2-40B4-BE49-F238E27FC236}">
                <a16:creationId xmlns:a16="http://schemas.microsoft.com/office/drawing/2014/main" id="{644C01A3-2E16-19FA-92B2-DB7291D4F351}"/>
              </a:ext>
            </a:extLst>
          </p:cNvPr>
          <p:cNvSpPr/>
          <p:nvPr/>
        </p:nvSpPr>
        <p:spPr>
          <a:xfrm>
            <a:off x="0" y="0"/>
            <a:ext cx="1212287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53870B-0E43-9A5A-8DFC-D23BF5AD45CC}"/>
              </a:ext>
            </a:extLst>
          </p:cNvPr>
          <p:cNvSpPr txBox="1"/>
          <p:nvPr/>
        </p:nvSpPr>
        <p:spPr>
          <a:xfrm>
            <a:off x="263951" y="235670"/>
            <a:ext cx="63819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200" b="1" dirty="0">
                <a:solidFill>
                  <a:schemeClr val="bg1"/>
                </a:solidFill>
              </a:rPr>
              <a:t>01 — Contexte &amp; Problématique</a:t>
            </a:r>
          </a:p>
        </p:txBody>
      </p:sp>
      <p:sp>
        <p:nvSpPr>
          <p:cNvPr id="11" name="Shape 14">
            <a:extLst>
              <a:ext uri="{FF2B5EF4-FFF2-40B4-BE49-F238E27FC236}">
                <a16:creationId xmlns:a16="http://schemas.microsoft.com/office/drawing/2014/main" id="{633D357A-017F-B84D-151C-F33BA7258D04}"/>
              </a:ext>
            </a:extLst>
          </p:cNvPr>
          <p:cNvSpPr/>
          <p:nvPr/>
        </p:nvSpPr>
        <p:spPr>
          <a:xfrm>
            <a:off x="11445083" y="6294277"/>
            <a:ext cx="502920" cy="3657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r>
              <a:rPr lang="es-ES" sz="1800" b="1" dirty="0">
                <a:solidFill>
                  <a:schemeClr val="bg1"/>
                </a:solidFill>
              </a:rPr>
              <a:t> 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44078" y="1709786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dirty="0">
                <a:solidFill>
                  <a:srgbClr val="1A56DB"/>
                </a:solidFill>
              </a:rPr>
              <a:t>🎯  </a:t>
            </a:r>
            <a:r>
              <a:rPr sz="1800" b="1" dirty="0" err="1">
                <a:solidFill>
                  <a:srgbClr val="1A56DB"/>
                </a:solidFill>
              </a:rPr>
              <a:t>Centraliser</a:t>
            </a:r>
            <a:endParaRPr sz="1400" b="1" dirty="0">
              <a:solidFill>
                <a:srgbClr val="1A56DB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311820" y="1634607"/>
            <a:ext cx="5669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dirty="0" err="1">
                <a:solidFill>
                  <a:srgbClr val="1E293B"/>
                </a:solidFill>
              </a:rPr>
              <a:t>Regrouper</a:t>
            </a:r>
            <a:r>
              <a:rPr sz="1800" b="0" dirty="0">
                <a:solidFill>
                  <a:srgbClr val="1E293B"/>
                </a:solidFill>
              </a:rPr>
              <a:t> </a:t>
            </a:r>
            <a:r>
              <a:rPr sz="1800" b="0" dirty="0" err="1">
                <a:solidFill>
                  <a:srgbClr val="1E293B"/>
                </a:solidFill>
              </a:rPr>
              <a:t>toutes</a:t>
            </a:r>
            <a:r>
              <a:rPr sz="1800" b="0" dirty="0">
                <a:solidFill>
                  <a:srgbClr val="1E293B"/>
                </a:solidFill>
              </a:rPr>
              <a:t> les associations, événements et ressources sur </a:t>
            </a:r>
            <a:r>
              <a:rPr sz="1800" b="0" dirty="0" err="1">
                <a:solidFill>
                  <a:srgbClr val="1E293B"/>
                </a:solidFill>
              </a:rPr>
              <a:t>une</a:t>
            </a:r>
            <a:r>
              <a:rPr sz="1800" b="0" dirty="0">
                <a:solidFill>
                  <a:srgbClr val="1E293B"/>
                </a:solidFill>
              </a:rPr>
              <a:t> </a:t>
            </a:r>
            <a:r>
              <a:rPr sz="1800" b="0" dirty="0" err="1">
                <a:solidFill>
                  <a:srgbClr val="1E293B"/>
                </a:solidFill>
              </a:rPr>
              <a:t>seule</a:t>
            </a:r>
            <a:r>
              <a:rPr sz="1800" b="0" dirty="0">
                <a:solidFill>
                  <a:srgbClr val="1E293B"/>
                </a:solidFill>
              </a:rPr>
              <a:t> </a:t>
            </a:r>
            <a:r>
              <a:rPr sz="1800" b="0" dirty="0" err="1">
                <a:solidFill>
                  <a:srgbClr val="1E293B"/>
                </a:solidFill>
              </a:rPr>
              <a:t>plateforme</a:t>
            </a:r>
            <a:r>
              <a:rPr sz="1800" b="0" dirty="0">
                <a:solidFill>
                  <a:srgbClr val="1E293B"/>
                </a:solidFill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4078" y="2603329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dirty="0">
                <a:solidFill>
                  <a:srgbClr val="1A56DB"/>
                </a:solidFill>
              </a:rPr>
              <a:t>⚡  </a:t>
            </a:r>
            <a:r>
              <a:rPr sz="1800" b="1" dirty="0" err="1">
                <a:solidFill>
                  <a:srgbClr val="1A56DB"/>
                </a:solidFill>
              </a:rPr>
              <a:t>Automatiser</a:t>
            </a:r>
            <a:endParaRPr sz="1400" b="1" dirty="0">
              <a:solidFill>
                <a:srgbClr val="1A56DB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311820" y="2469587"/>
            <a:ext cx="5669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dirty="0">
                <a:solidFill>
                  <a:srgbClr val="1E293B"/>
                </a:solidFill>
              </a:rPr>
              <a:t>Inscription aux événements, paiements, notifications, </a:t>
            </a:r>
            <a:r>
              <a:rPr sz="1800" b="0" dirty="0" err="1">
                <a:solidFill>
                  <a:srgbClr val="1E293B"/>
                </a:solidFill>
              </a:rPr>
              <a:t>cotisations</a:t>
            </a:r>
            <a:r>
              <a:rPr sz="1800" b="0" dirty="0">
                <a:solidFill>
                  <a:srgbClr val="1E293B"/>
                </a:solidFill>
              </a:rPr>
              <a:t> — </a:t>
            </a:r>
            <a:r>
              <a:rPr sz="1800" b="0" dirty="0" err="1">
                <a:solidFill>
                  <a:srgbClr val="1E293B"/>
                </a:solidFill>
              </a:rPr>
              <a:t>zéro</a:t>
            </a:r>
            <a:r>
              <a:rPr sz="1800" b="0" dirty="0">
                <a:solidFill>
                  <a:srgbClr val="1E293B"/>
                </a:solidFill>
              </a:rPr>
              <a:t> papier.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4078" y="3375623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dirty="0">
                <a:solidFill>
                  <a:srgbClr val="1A56DB"/>
                </a:solidFill>
              </a:rPr>
              <a:t>🔐  </a:t>
            </a:r>
            <a:r>
              <a:rPr sz="1800" b="1" dirty="0" err="1">
                <a:solidFill>
                  <a:srgbClr val="1A56DB"/>
                </a:solidFill>
              </a:rPr>
              <a:t>Sécuriser</a:t>
            </a:r>
            <a:endParaRPr sz="1400" b="1" dirty="0">
              <a:solidFill>
                <a:srgbClr val="1A56DB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311820" y="3463644"/>
            <a:ext cx="5669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dirty="0">
                <a:solidFill>
                  <a:srgbClr val="1E293B"/>
                </a:solidFill>
              </a:rPr>
              <a:t>RBAC complet (</a:t>
            </a:r>
            <a:r>
              <a:rPr sz="1800" b="0" dirty="0" err="1">
                <a:solidFill>
                  <a:srgbClr val="1E293B"/>
                </a:solidFill>
              </a:rPr>
              <a:t>Invité</a:t>
            </a:r>
            <a:r>
              <a:rPr sz="1800" b="0" dirty="0">
                <a:solidFill>
                  <a:srgbClr val="1E293B"/>
                </a:solidFill>
              </a:rPr>
              <a:t> / Étudiant / </a:t>
            </a:r>
            <a:r>
              <a:rPr sz="1800" b="0" dirty="0" err="1">
                <a:solidFill>
                  <a:srgbClr val="1E293B"/>
                </a:solidFill>
              </a:rPr>
              <a:t>Responsable</a:t>
            </a:r>
            <a:r>
              <a:rPr sz="1800" b="0" dirty="0">
                <a:solidFill>
                  <a:srgbClr val="1E293B"/>
                </a:solidFill>
              </a:rPr>
              <a:t> / Admin) avec </a:t>
            </a:r>
            <a:r>
              <a:rPr sz="1800" b="0" dirty="0" err="1">
                <a:solidFill>
                  <a:srgbClr val="1E293B"/>
                </a:solidFill>
              </a:rPr>
              <a:t>authentification</a:t>
            </a:r>
            <a:r>
              <a:rPr sz="1800" b="0" dirty="0">
                <a:solidFill>
                  <a:srgbClr val="1E293B"/>
                </a:solidFill>
              </a:rPr>
              <a:t> JWT.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078" y="428407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A56DB"/>
                </a:solidFill>
              </a:rPr>
              <a:t>💸  Monétiser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1820" y="4182436"/>
            <a:ext cx="5669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dirty="0">
                <a:solidFill>
                  <a:srgbClr val="1E293B"/>
                </a:solidFill>
              </a:rPr>
              <a:t>Modèle Freemium : abonnements Premium, commissions sur événements, sponsors.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97735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A56DB"/>
                </a:solidFill>
              </a:rPr>
              <a:t>📊  Piloter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1820" y="4931632"/>
            <a:ext cx="5669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dirty="0">
                <a:solidFill>
                  <a:srgbClr val="1E293B"/>
                </a:solidFill>
              </a:rPr>
              <a:t>Tableaux de bord temps réel pour les </a:t>
            </a:r>
            <a:r>
              <a:rPr sz="1800" b="0" dirty="0" err="1">
                <a:solidFill>
                  <a:srgbClr val="1E293B"/>
                </a:solidFill>
              </a:rPr>
              <a:t>responsables</a:t>
            </a:r>
            <a:r>
              <a:rPr sz="1800" b="0" dirty="0">
                <a:solidFill>
                  <a:srgbClr val="1E293B"/>
                </a:solidFill>
              </a:rPr>
              <a:t> et </a:t>
            </a:r>
            <a:r>
              <a:rPr sz="1800" b="0" dirty="0" err="1">
                <a:solidFill>
                  <a:srgbClr val="1E293B"/>
                </a:solidFill>
              </a:rPr>
              <a:t>l'administrateur</a:t>
            </a:r>
            <a:r>
              <a:rPr sz="1800" b="0" dirty="0">
                <a:solidFill>
                  <a:srgbClr val="1E293B"/>
                </a:solidFill>
              </a:rPr>
              <a:t>.</a:t>
            </a:r>
          </a:p>
        </p:txBody>
      </p:sp>
      <p:sp>
        <p:nvSpPr>
          <p:cNvPr id="2" name="Shape 14">
            <a:extLst>
              <a:ext uri="{FF2B5EF4-FFF2-40B4-BE49-F238E27FC236}">
                <a16:creationId xmlns:a16="http://schemas.microsoft.com/office/drawing/2014/main" id="{DA506170-72D4-039F-99F2-240E3F29E509}"/>
              </a:ext>
            </a:extLst>
          </p:cNvPr>
          <p:cNvSpPr/>
          <p:nvPr/>
        </p:nvSpPr>
        <p:spPr>
          <a:xfrm>
            <a:off x="11445083" y="6294277"/>
            <a:ext cx="502920" cy="3657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r>
              <a:rPr lang="es-ES" sz="1800" b="1" dirty="0">
                <a:solidFill>
                  <a:schemeClr val="bg1"/>
                </a:solidFill>
              </a:rPr>
              <a:t>  3</a:t>
            </a:r>
          </a:p>
        </p:txBody>
      </p:sp>
      <p:sp>
        <p:nvSpPr>
          <p:cNvPr id="16" name="Shape 0">
            <a:extLst>
              <a:ext uri="{FF2B5EF4-FFF2-40B4-BE49-F238E27FC236}">
                <a16:creationId xmlns:a16="http://schemas.microsoft.com/office/drawing/2014/main" id="{17FF3CC4-3A0D-21D2-A346-70DEB91FA9FD}"/>
              </a:ext>
            </a:extLst>
          </p:cNvPr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89EDA8A-767F-D065-E66B-205879FC7512}"/>
              </a:ext>
            </a:extLst>
          </p:cNvPr>
          <p:cNvSpPr txBox="1"/>
          <p:nvPr/>
        </p:nvSpPr>
        <p:spPr>
          <a:xfrm>
            <a:off x="344078" y="301658"/>
            <a:ext cx="64055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200" b="1" dirty="0">
                <a:solidFill>
                  <a:schemeClr val="bg1"/>
                </a:solidFill>
              </a:rPr>
              <a:t>02 — Objectifs du Projet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65760" y="1188720"/>
            <a:ext cx="16459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b="1" dirty="0">
                <a:solidFill>
                  <a:schemeClr val="accent1">
                    <a:lumMod val="50000"/>
                  </a:schemeClr>
                </a:solidFill>
              </a:rPr>
              <a:t>Frontend</a:t>
            </a:r>
            <a:r>
              <a:rPr sz="1800" b="1" dirty="0">
                <a:solidFill>
                  <a:srgbClr val="FFFFFF"/>
                </a:solidFill>
              </a:rPr>
              <a:t>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03120" y="1188720"/>
            <a:ext cx="228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dirty="0">
                <a:solidFill>
                  <a:schemeClr val="accent1">
                    <a:lumMod val="50000"/>
                  </a:schemeClr>
                </a:solidFill>
              </a:rPr>
              <a:t>React 18 + Vite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1188720"/>
            <a:ext cx="43891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dirty="0"/>
              <a:t>Design System Vanilla CSS Premium, </a:t>
            </a:r>
            <a:r>
              <a:rPr sz="1800" b="1" dirty="0" err="1"/>
              <a:t>composants</a:t>
            </a:r>
            <a:r>
              <a:rPr sz="1800" b="1" dirty="0"/>
              <a:t> </a:t>
            </a:r>
            <a:r>
              <a:rPr sz="1800" b="1" dirty="0" err="1"/>
              <a:t>réutilisables</a:t>
            </a:r>
            <a:r>
              <a:rPr sz="1800" b="1" dirty="0"/>
              <a:t>, </a:t>
            </a:r>
            <a:r>
              <a:rPr sz="1800" b="1" dirty="0" err="1"/>
              <a:t>AuthContext</a:t>
            </a:r>
            <a:endParaRPr sz="1800" b="1" dirty="0"/>
          </a:p>
        </p:txBody>
      </p:sp>
      <p:sp>
        <p:nvSpPr>
          <p:cNvPr id="8" name="TextBox 7"/>
          <p:cNvSpPr txBox="1"/>
          <p:nvPr/>
        </p:nvSpPr>
        <p:spPr>
          <a:xfrm>
            <a:off x="365760" y="2084832"/>
            <a:ext cx="16459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dirty="0">
                <a:solidFill>
                  <a:schemeClr val="accent1">
                    <a:lumMod val="50000"/>
                  </a:schemeClr>
                </a:solidFill>
              </a:rPr>
              <a:t>Backend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2084832"/>
            <a:ext cx="228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dirty="0">
                <a:solidFill>
                  <a:schemeClr val="accent1">
                    <a:lumMod val="50000"/>
                  </a:schemeClr>
                </a:solidFill>
              </a:rPr>
              <a:t>Node.js + Express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084832"/>
            <a:ext cx="43891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dirty="0"/>
              <a:t>Architecture MVC, routes REST, middleware RBAC, Swagger /</a:t>
            </a:r>
            <a:r>
              <a:rPr sz="1800" b="1" dirty="0" err="1"/>
              <a:t>api</a:t>
            </a:r>
            <a:r>
              <a:rPr sz="1800" b="1" dirty="0"/>
              <a:t>-docs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980944"/>
            <a:ext cx="16459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dirty="0">
                <a:solidFill>
                  <a:schemeClr val="accent1">
                    <a:lumMod val="50000"/>
                  </a:schemeClr>
                </a:solidFill>
              </a:rPr>
              <a:t>Base de données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2980944"/>
            <a:ext cx="228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dirty="0">
                <a:solidFill>
                  <a:schemeClr val="accent1">
                    <a:lumMod val="50000"/>
                  </a:schemeClr>
                </a:solidFill>
              </a:rPr>
              <a:t>MySQL (mysql2)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2980944"/>
            <a:ext cx="43891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dirty="0"/>
              <a:t>Tables : users, associations, events, registrations, commissions, sponsors…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877056"/>
            <a:ext cx="16459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dirty="0">
                <a:solidFill>
                  <a:schemeClr val="accent1">
                    <a:lumMod val="50000"/>
                  </a:schemeClr>
                </a:solidFill>
              </a:rPr>
              <a:t>Sécurité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3877056"/>
            <a:ext cx="228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dirty="0">
                <a:solidFill>
                  <a:schemeClr val="accent1">
                    <a:lumMod val="50000"/>
                  </a:schemeClr>
                </a:solidFill>
              </a:rPr>
              <a:t>JWT + </a:t>
            </a:r>
            <a:r>
              <a:rPr sz="1800" b="1" dirty="0" err="1">
                <a:solidFill>
                  <a:schemeClr val="accent1">
                    <a:lumMod val="50000"/>
                  </a:schemeClr>
                </a:solidFill>
              </a:rPr>
              <a:t>bcrypt</a:t>
            </a:r>
            <a:endParaRPr sz="1800" b="1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480560" y="3877056"/>
            <a:ext cx="43891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dirty="0"/>
              <a:t>Tokens stateless 24h, hash Round 10, CORS, Helmet, validation des </a:t>
            </a:r>
            <a:r>
              <a:rPr sz="1800" b="1" dirty="0" err="1"/>
              <a:t>rôles</a:t>
            </a:r>
            <a:endParaRPr sz="1800" b="1" dirty="0"/>
          </a:p>
        </p:txBody>
      </p:sp>
      <p:sp>
        <p:nvSpPr>
          <p:cNvPr id="17" name="TextBox 16"/>
          <p:cNvSpPr txBox="1"/>
          <p:nvPr/>
        </p:nvSpPr>
        <p:spPr>
          <a:xfrm>
            <a:off x="365760" y="4773168"/>
            <a:ext cx="16459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dirty="0">
                <a:solidFill>
                  <a:schemeClr val="accent1">
                    <a:lumMod val="50000"/>
                  </a:schemeClr>
                </a:solidFill>
              </a:rPr>
              <a:t>Emails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4773168"/>
            <a:ext cx="228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dirty="0" err="1">
                <a:solidFill>
                  <a:schemeClr val="accent1">
                    <a:lumMod val="50000"/>
                  </a:schemeClr>
                </a:solidFill>
              </a:rPr>
              <a:t>Nodemailer</a:t>
            </a:r>
            <a:r>
              <a:rPr sz="1800" b="1" dirty="0">
                <a:solidFill>
                  <a:schemeClr val="accent1">
                    <a:lumMod val="50000"/>
                  </a:schemeClr>
                </a:solidFill>
              </a:rPr>
              <a:t> + Cron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4773168"/>
            <a:ext cx="43891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dirty="0"/>
              <a:t>Confirmation, rappels J-1/J-2, notifications, </a:t>
            </a:r>
            <a:r>
              <a:rPr sz="1800" b="1" dirty="0" err="1"/>
              <a:t>révocation</a:t>
            </a:r>
            <a:r>
              <a:rPr sz="1800" b="1" dirty="0"/>
              <a:t> Premium </a:t>
            </a:r>
            <a:r>
              <a:rPr sz="1800" b="1" dirty="0" err="1"/>
              <a:t>automatique</a:t>
            </a:r>
            <a:endParaRPr sz="1800" b="1" dirty="0"/>
          </a:p>
        </p:txBody>
      </p:sp>
      <p:sp>
        <p:nvSpPr>
          <p:cNvPr id="20" name="Shape 14">
            <a:extLst>
              <a:ext uri="{FF2B5EF4-FFF2-40B4-BE49-F238E27FC236}">
                <a16:creationId xmlns:a16="http://schemas.microsoft.com/office/drawing/2014/main" id="{93781E76-84CA-54F6-4938-4BF40D970B35}"/>
              </a:ext>
            </a:extLst>
          </p:cNvPr>
          <p:cNvSpPr/>
          <p:nvPr/>
        </p:nvSpPr>
        <p:spPr>
          <a:xfrm>
            <a:off x="11445083" y="6294277"/>
            <a:ext cx="502920" cy="3657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r>
              <a:rPr lang="es-ES" sz="1800" b="1" dirty="0">
                <a:solidFill>
                  <a:schemeClr val="bg1"/>
                </a:solidFill>
              </a:rPr>
              <a:t>  </a:t>
            </a:r>
            <a:r>
              <a:rPr lang="es-ES" b="1" dirty="0">
                <a:solidFill>
                  <a:schemeClr val="bg1"/>
                </a:solidFill>
              </a:rPr>
              <a:t>4</a:t>
            </a:r>
            <a:endParaRPr lang="es-ES" sz="1800" b="1" dirty="0">
              <a:solidFill>
                <a:schemeClr val="bg1"/>
              </a:solidFill>
            </a:endParaRPr>
          </a:p>
        </p:txBody>
      </p:sp>
      <p:sp>
        <p:nvSpPr>
          <p:cNvPr id="25" name="Shape 0">
            <a:extLst>
              <a:ext uri="{FF2B5EF4-FFF2-40B4-BE49-F238E27FC236}">
                <a16:creationId xmlns:a16="http://schemas.microsoft.com/office/drawing/2014/main" id="{4AEFEAA0-8602-0641-CFBE-38C4985CA326}"/>
              </a:ext>
            </a:extLst>
          </p:cNvPr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65A9101-7048-627E-AAA3-7EF0BD4FC769}"/>
              </a:ext>
            </a:extLst>
          </p:cNvPr>
          <p:cNvSpPr txBox="1"/>
          <p:nvPr/>
        </p:nvSpPr>
        <p:spPr>
          <a:xfrm>
            <a:off x="365760" y="226243"/>
            <a:ext cx="8503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200" b="1">
                <a:solidFill>
                  <a:schemeClr val="bg1"/>
                </a:solidFill>
              </a:rPr>
              <a:t>03 — Architecture Technique</a:t>
            </a:r>
            <a:endParaRPr lang="es-ES" sz="32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65760" y="12801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A56DB"/>
                </a:solidFill>
              </a:rPr>
              <a:t>🔐 IAM &amp; RBAC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783080"/>
            <a:ext cx="4023360" cy="13029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800" dirty="0">
                <a:solidFill>
                  <a:srgbClr val="1E293B"/>
                </a:solidFill>
              </a:rPr>
              <a:t>• Inscription multi-</a:t>
            </a:r>
            <a:r>
              <a:rPr sz="1800" dirty="0" err="1">
                <a:solidFill>
                  <a:srgbClr val="1E293B"/>
                </a:solidFill>
              </a:rPr>
              <a:t>rôle</a:t>
            </a:r>
            <a:r>
              <a:rPr sz="1800" dirty="0">
                <a:solidFill>
                  <a:srgbClr val="1E293B"/>
                </a:solidFill>
              </a:rPr>
              <a:t> (</a:t>
            </a:r>
            <a:r>
              <a:rPr sz="1800" dirty="0" err="1">
                <a:solidFill>
                  <a:srgbClr val="1E293B"/>
                </a:solidFill>
              </a:rPr>
              <a:t>étudiant</a:t>
            </a:r>
            <a:r>
              <a:rPr sz="1800" dirty="0">
                <a:solidFill>
                  <a:srgbClr val="1E293B"/>
                </a:solidFill>
              </a:rPr>
              <a:t> / </a:t>
            </a:r>
            <a:r>
              <a:rPr sz="1800" dirty="0" err="1">
                <a:solidFill>
                  <a:srgbClr val="1E293B"/>
                </a:solidFill>
              </a:rPr>
              <a:t>responsable</a:t>
            </a:r>
            <a:r>
              <a:rPr sz="1800" dirty="0">
                <a:solidFill>
                  <a:srgbClr val="1E293B"/>
                </a:solidFill>
              </a:rPr>
              <a:t> ONG </a:t>
            </a:r>
            <a:r>
              <a:rPr sz="1800" dirty="0" err="1">
                <a:solidFill>
                  <a:srgbClr val="1E293B"/>
                </a:solidFill>
              </a:rPr>
              <a:t>ou</a:t>
            </a:r>
            <a:r>
              <a:rPr sz="1800" dirty="0">
                <a:solidFill>
                  <a:srgbClr val="1E293B"/>
                </a:solidFill>
              </a:rPr>
              <a:t> club)</a:t>
            </a:r>
          </a:p>
          <a:p>
            <a:pPr>
              <a:spcBef>
                <a:spcPts val="400"/>
              </a:spcBef>
            </a:pPr>
            <a:r>
              <a:rPr sz="1800" dirty="0">
                <a:solidFill>
                  <a:srgbClr val="1E293B"/>
                </a:solidFill>
              </a:rPr>
              <a:t>• Confirmation email </a:t>
            </a:r>
            <a:endParaRPr lang="es-ES" sz="1800" dirty="0">
              <a:solidFill>
                <a:srgbClr val="1E293B"/>
              </a:solidFill>
            </a:endParaRPr>
          </a:p>
          <a:p>
            <a:pPr>
              <a:spcBef>
                <a:spcPts val="400"/>
              </a:spcBef>
            </a:pPr>
            <a:r>
              <a:rPr sz="1800" dirty="0">
                <a:solidFill>
                  <a:srgbClr val="1E293B"/>
                </a:solidFill>
              </a:rPr>
              <a:t>• JWT 24h + reset mot de passe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2801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A56DB"/>
                </a:solidFill>
              </a:rPr>
              <a:t>📅 Événements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1783080"/>
            <a:ext cx="4023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800" dirty="0">
                <a:solidFill>
                  <a:srgbClr val="1E293B"/>
                </a:solidFill>
              </a:rPr>
              <a:t>• </a:t>
            </a:r>
            <a:r>
              <a:rPr sz="1800" dirty="0" err="1">
                <a:solidFill>
                  <a:srgbClr val="1E293B"/>
                </a:solidFill>
              </a:rPr>
              <a:t>Algorithme</a:t>
            </a:r>
            <a:r>
              <a:rPr sz="1800" dirty="0">
                <a:solidFill>
                  <a:srgbClr val="1E293B"/>
                </a:solidFill>
              </a:rPr>
              <a:t> anti-</a:t>
            </a:r>
            <a:r>
              <a:rPr sz="1800" dirty="0" err="1">
                <a:solidFill>
                  <a:srgbClr val="1E293B"/>
                </a:solidFill>
              </a:rPr>
              <a:t>conflit</a:t>
            </a:r>
            <a:r>
              <a:rPr sz="1800" dirty="0">
                <a:solidFill>
                  <a:srgbClr val="1E293B"/>
                </a:solidFill>
              </a:rPr>
              <a:t> de salle (</a:t>
            </a:r>
            <a:r>
              <a:rPr sz="1800" dirty="0" err="1">
                <a:solidFill>
                  <a:srgbClr val="1E293B"/>
                </a:solidFill>
              </a:rPr>
              <a:t>checkConflict</a:t>
            </a:r>
            <a:r>
              <a:rPr sz="1800" dirty="0">
                <a:solidFill>
                  <a:srgbClr val="1E293B"/>
                </a:solidFill>
              </a:rPr>
              <a:t> SQL)</a:t>
            </a:r>
          </a:p>
          <a:p>
            <a:pPr>
              <a:spcBef>
                <a:spcPts val="400"/>
              </a:spcBef>
            </a:pPr>
            <a:r>
              <a:rPr sz="1800" dirty="0">
                <a:solidFill>
                  <a:srgbClr val="1E293B"/>
                </a:solidFill>
              </a:rPr>
              <a:t>• </a:t>
            </a:r>
            <a:r>
              <a:rPr sz="1800" dirty="0" err="1">
                <a:solidFill>
                  <a:srgbClr val="1E293B"/>
                </a:solidFill>
              </a:rPr>
              <a:t>Tarification</a:t>
            </a:r>
            <a:r>
              <a:rPr sz="1800" dirty="0">
                <a:solidFill>
                  <a:srgbClr val="1E293B"/>
                </a:solidFill>
              </a:rPr>
              <a:t> </a:t>
            </a:r>
            <a:r>
              <a:rPr sz="1800" dirty="0" err="1">
                <a:solidFill>
                  <a:srgbClr val="1E293B"/>
                </a:solidFill>
              </a:rPr>
              <a:t>automatique</a:t>
            </a:r>
            <a:r>
              <a:rPr sz="1800" dirty="0">
                <a:solidFill>
                  <a:srgbClr val="1E293B"/>
                </a:solidFill>
              </a:rPr>
              <a:t> : </a:t>
            </a:r>
            <a:r>
              <a:rPr sz="1800" dirty="0" err="1">
                <a:solidFill>
                  <a:srgbClr val="1E293B"/>
                </a:solidFill>
              </a:rPr>
              <a:t>invité</a:t>
            </a:r>
            <a:r>
              <a:rPr sz="1800" dirty="0">
                <a:solidFill>
                  <a:srgbClr val="1E293B"/>
                </a:solidFill>
              </a:rPr>
              <a:t> / </a:t>
            </a:r>
            <a:r>
              <a:rPr sz="1800" dirty="0" err="1">
                <a:solidFill>
                  <a:srgbClr val="1E293B"/>
                </a:solidFill>
              </a:rPr>
              <a:t>membre</a:t>
            </a:r>
            <a:r>
              <a:rPr sz="1800" dirty="0">
                <a:solidFill>
                  <a:srgbClr val="1E293B"/>
                </a:solidFill>
              </a:rPr>
              <a:t> / 20% remise 10 premiers</a:t>
            </a:r>
          </a:p>
          <a:p>
            <a:pPr>
              <a:spcBef>
                <a:spcPts val="400"/>
              </a:spcBef>
            </a:pPr>
            <a:r>
              <a:rPr sz="1800" dirty="0">
                <a:solidFill>
                  <a:srgbClr val="1E293B"/>
                </a:solidFill>
              </a:rPr>
              <a:t>• Gestion de la </a:t>
            </a:r>
            <a:r>
              <a:rPr sz="1800" dirty="0" err="1">
                <a:solidFill>
                  <a:srgbClr val="1E293B"/>
                </a:solidFill>
              </a:rPr>
              <a:t>jauge</a:t>
            </a:r>
            <a:r>
              <a:rPr sz="1800" dirty="0">
                <a:solidFill>
                  <a:srgbClr val="1E293B"/>
                </a:solidFill>
              </a:rPr>
              <a:t> et </a:t>
            </a:r>
            <a:r>
              <a:rPr sz="1800" dirty="0" err="1">
                <a:solidFill>
                  <a:srgbClr val="1E293B"/>
                </a:solidFill>
              </a:rPr>
              <a:t>liste</a:t>
            </a:r>
            <a:r>
              <a:rPr sz="1800" dirty="0">
                <a:solidFill>
                  <a:srgbClr val="1E293B"/>
                </a:solidFill>
              </a:rPr>
              <a:t> de </a:t>
            </a:r>
            <a:r>
              <a:rPr sz="1800" dirty="0" err="1">
                <a:solidFill>
                  <a:srgbClr val="1E293B"/>
                </a:solidFill>
              </a:rPr>
              <a:t>présence</a:t>
            </a:r>
            <a:r>
              <a:rPr sz="1800" dirty="0">
                <a:solidFill>
                  <a:srgbClr val="1E293B"/>
                </a:solidFill>
              </a:rPr>
              <a:t> nominative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3749039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A56DB"/>
                </a:solidFill>
              </a:rPr>
              <a:t>🏢 Associations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251959"/>
            <a:ext cx="4023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800">
                <a:solidFill>
                  <a:srgbClr val="1E293B"/>
                </a:solidFill>
              </a:rPr>
              <a:t>• Annuaire public + fiche détaillée avec dons pour ONG</a:t>
            </a:r>
          </a:p>
          <a:p>
            <a:pPr>
              <a:spcBef>
                <a:spcPts val="400"/>
              </a:spcBef>
            </a:pPr>
            <a:r>
              <a:rPr sz="1800">
                <a:solidFill>
                  <a:srgbClr val="1E293B"/>
                </a:solidFill>
              </a:rPr>
              <a:t>• Espace membres &amp; ressources (plan Premium)</a:t>
            </a:r>
          </a:p>
          <a:p>
            <a:pPr>
              <a:spcBef>
                <a:spcPts val="400"/>
              </a:spcBef>
            </a:pPr>
            <a:r>
              <a:rPr sz="1800">
                <a:solidFill>
                  <a:srgbClr val="1E293B"/>
                </a:solidFill>
              </a:rPr>
              <a:t>• Trésorerie temps réel avec journal de transactions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3749039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A56DB"/>
                </a:solidFill>
              </a:rPr>
              <a:t>👤 Admin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4251959"/>
            <a:ext cx="4023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800">
                <a:solidFill>
                  <a:srgbClr val="1E293B"/>
                </a:solidFill>
              </a:rPr>
              <a:t>• Validation des associations et responsables</a:t>
            </a:r>
          </a:p>
          <a:p>
            <a:pPr>
              <a:spcBef>
                <a:spcPts val="400"/>
              </a:spcBef>
            </a:pPr>
            <a:r>
              <a:rPr sz="1800">
                <a:solidFill>
                  <a:srgbClr val="1E293B"/>
                </a:solidFill>
              </a:rPr>
              <a:t>• Gestion des sponsors corporatifs</a:t>
            </a:r>
          </a:p>
          <a:p>
            <a:pPr>
              <a:spcBef>
                <a:spcPts val="400"/>
              </a:spcBef>
            </a:pPr>
            <a:r>
              <a:rPr sz="1800">
                <a:solidFill>
                  <a:srgbClr val="1E293B"/>
                </a:solidFill>
              </a:rPr>
              <a:t>• Abonnements Premium, statistiques globales</a:t>
            </a:r>
          </a:p>
        </p:txBody>
      </p:sp>
      <p:sp>
        <p:nvSpPr>
          <p:cNvPr id="15" name="Shape 14">
            <a:extLst>
              <a:ext uri="{FF2B5EF4-FFF2-40B4-BE49-F238E27FC236}">
                <a16:creationId xmlns:a16="http://schemas.microsoft.com/office/drawing/2014/main" id="{AC53F5E7-E893-E935-60EC-22EBF081D098}"/>
              </a:ext>
            </a:extLst>
          </p:cNvPr>
          <p:cNvSpPr/>
          <p:nvPr/>
        </p:nvSpPr>
        <p:spPr>
          <a:xfrm>
            <a:off x="11445083" y="6294277"/>
            <a:ext cx="502920" cy="3657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r>
              <a:rPr lang="es-ES" sz="1800" b="1" dirty="0">
                <a:solidFill>
                  <a:schemeClr val="bg1"/>
                </a:solidFill>
              </a:rPr>
              <a:t>  5</a:t>
            </a:r>
          </a:p>
        </p:txBody>
      </p:sp>
      <p:sp>
        <p:nvSpPr>
          <p:cNvPr id="16" name="Shape 0">
            <a:extLst>
              <a:ext uri="{FF2B5EF4-FFF2-40B4-BE49-F238E27FC236}">
                <a16:creationId xmlns:a16="http://schemas.microsoft.com/office/drawing/2014/main" id="{A5DB651D-E537-0D6E-E8DA-7FE6B3988037}"/>
              </a:ext>
            </a:extLst>
          </p:cNvPr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8F1294B-C592-2369-51FD-1A27B8B073EF}"/>
              </a:ext>
            </a:extLst>
          </p:cNvPr>
          <p:cNvSpPr txBox="1"/>
          <p:nvPr/>
        </p:nvSpPr>
        <p:spPr>
          <a:xfrm>
            <a:off x="207390" y="216816"/>
            <a:ext cx="54864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200" b="1">
                <a:solidFill>
                  <a:schemeClr val="bg1"/>
                </a:solidFill>
              </a:rPr>
              <a:t>04 — Fonctionnalités Clés</a:t>
            </a:r>
            <a:endParaRPr lang="es-ES" sz="32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65760" y="118872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A56DB"/>
                </a:solidFill>
              </a:rPr>
              <a:t>💎 Abonnement Premium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0" y="118872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0B981"/>
                </a:solidFill>
              </a:rPr>
              <a:t>500 MRU/mois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1188720"/>
            <a:ext cx="66141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dirty="0" err="1">
                <a:solidFill>
                  <a:srgbClr val="64748B"/>
                </a:solidFill>
              </a:rPr>
              <a:t>Accès</a:t>
            </a:r>
            <a:r>
              <a:rPr sz="1800" b="0" dirty="0">
                <a:solidFill>
                  <a:srgbClr val="64748B"/>
                </a:solidFill>
              </a:rPr>
              <a:t> : dashboard </a:t>
            </a:r>
            <a:r>
              <a:rPr sz="1800" b="0" dirty="0" err="1">
                <a:solidFill>
                  <a:srgbClr val="64748B"/>
                </a:solidFill>
              </a:rPr>
              <a:t>avancé</a:t>
            </a:r>
            <a:r>
              <a:rPr sz="1800" b="0" dirty="0">
                <a:solidFill>
                  <a:srgbClr val="64748B"/>
                </a:solidFill>
              </a:rPr>
              <a:t>, ressources </a:t>
            </a:r>
            <a:r>
              <a:rPr sz="1800" b="0" dirty="0" err="1">
                <a:solidFill>
                  <a:srgbClr val="64748B"/>
                </a:solidFill>
              </a:rPr>
              <a:t>membres</a:t>
            </a:r>
            <a:r>
              <a:rPr sz="1800" b="0" dirty="0">
                <a:solidFill>
                  <a:srgbClr val="64748B"/>
                </a:solidFill>
              </a:rPr>
              <a:t>, mise en </a:t>
            </a:r>
            <a:r>
              <a:rPr sz="1800" b="0" dirty="0" err="1">
                <a:solidFill>
                  <a:srgbClr val="64748B"/>
                </a:solidFill>
              </a:rPr>
              <a:t>avant</a:t>
            </a:r>
            <a:r>
              <a:rPr sz="1800" b="0" dirty="0">
                <a:solidFill>
                  <a:srgbClr val="64748B"/>
                </a:solidFill>
              </a:rPr>
              <a:t> événements, emails </a:t>
            </a:r>
            <a:r>
              <a:rPr sz="1800" b="0" dirty="0" err="1">
                <a:solidFill>
                  <a:srgbClr val="64748B"/>
                </a:solidFill>
              </a:rPr>
              <a:t>illimités</a:t>
            </a:r>
            <a:r>
              <a:rPr lang="es-ES" sz="1800" b="0" dirty="0">
                <a:solidFill>
                  <a:srgbClr val="64748B"/>
                </a:solidFill>
              </a:rPr>
              <a:t>.</a:t>
            </a:r>
            <a:endParaRPr sz="1800" b="0" dirty="0">
              <a:solidFill>
                <a:srgbClr val="64748B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65760" y="205740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A56DB"/>
                </a:solidFill>
              </a:rPr>
              <a:t>🎟 Commission Billetterie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05740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0B981"/>
                </a:solidFill>
              </a:rPr>
              <a:t>10% par billet validé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2057400"/>
            <a:ext cx="689193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dirty="0" err="1">
                <a:solidFill>
                  <a:srgbClr val="64748B"/>
                </a:solidFill>
              </a:rPr>
              <a:t>Prélevé</a:t>
            </a:r>
            <a:r>
              <a:rPr sz="1800" b="0" dirty="0">
                <a:solidFill>
                  <a:srgbClr val="64748B"/>
                </a:solidFill>
              </a:rPr>
              <a:t> </a:t>
            </a:r>
            <a:r>
              <a:rPr sz="1800" b="0" dirty="0" err="1">
                <a:solidFill>
                  <a:srgbClr val="64748B"/>
                </a:solidFill>
              </a:rPr>
              <a:t>automatiquement</a:t>
            </a:r>
            <a:r>
              <a:rPr sz="1800" b="0" dirty="0">
                <a:solidFill>
                  <a:srgbClr val="64748B"/>
                </a:solidFill>
              </a:rPr>
              <a:t> </a:t>
            </a:r>
            <a:r>
              <a:rPr sz="1800" b="0" dirty="0" err="1">
                <a:solidFill>
                  <a:srgbClr val="64748B"/>
                </a:solidFill>
              </a:rPr>
              <a:t>lors</a:t>
            </a:r>
            <a:r>
              <a:rPr sz="1800" b="0" dirty="0">
                <a:solidFill>
                  <a:srgbClr val="64748B"/>
                </a:solidFill>
              </a:rPr>
              <a:t> de la validation </a:t>
            </a:r>
            <a:r>
              <a:rPr sz="1800" b="0" dirty="0" err="1">
                <a:solidFill>
                  <a:srgbClr val="64748B"/>
                </a:solidFill>
              </a:rPr>
              <a:t>manuelle</a:t>
            </a:r>
            <a:r>
              <a:rPr sz="1800" b="0" dirty="0">
                <a:solidFill>
                  <a:srgbClr val="64748B"/>
                </a:solidFill>
              </a:rPr>
              <a:t> du paiement par le </a:t>
            </a:r>
            <a:r>
              <a:rPr sz="1800" b="0" dirty="0" err="1">
                <a:solidFill>
                  <a:srgbClr val="64748B"/>
                </a:solidFill>
              </a:rPr>
              <a:t>responsable</a:t>
            </a:r>
            <a:r>
              <a:rPr lang="es-ES" sz="1800" b="0" dirty="0">
                <a:solidFill>
                  <a:srgbClr val="64748B"/>
                </a:solidFill>
              </a:rPr>
              <a:t>.</a:t>
            </a:r>
            <a:endParaRPr sz="1800" b="0" dirty="0">
              <a:solidFill>
                <a:srgbClr val="64748B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65760" y="292608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A56DB"/>
                </a:solidFill>
              </a:rPr>
              <a:t>🤝 Commission Adhésion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92608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0B981"/>
                </a:solidFill>
              </a:rPr>
              <a:t>5% de la cotisation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9" y="2926080"/>
            <a:ext cx="689193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dirty="0">
                <a:solidFill>
                  <a:srgbClr val="64748B"/>
                </a:solidFill>
              </a:rPr>
              <a:t>Appliqué </a:t>
            </a:r>
            <a:r>
              <a:rPr sz="1800" b="0" dirty="0" err="1">
                <a:solidFill>
                  <a:srgbClr val="64748B"/>
                </a:solidFill>
              </a:rPr>
              <a:t>lors</a:t>
            </a:r>
            <a:r>
              <a:rPr sz="1800" b="0" dirty="0">
                <a:solidFill>
                  <a:srgbClr val="64748B"/>
                </a:solidFill>
              </a:rPr>
              <a:t> de la validation de </a:t>
            </a:r>
            <a:r>
              <a:rPr sz="1800" b="0" dirty="0" err="1">
                <a:solidFill>
                  <a:srgbClr val="64748B"/>
                </a:solidFill>
              </a:rPr>
              <a:t>chaque</a:t>
            </a:r>
            <a:r>
              <a:rPr sz="1800" b="0" dirty="0">
                <a:solidFill>
                  <a:srgbClr val="64748B"/>
                </a:solidFill>
              </a:rPr>
              <a:t> </a:t>
            </a:r>
            <a:r>
              <a:rPr sz="1800" b="0" dirty="0" err="1">
                <a:solidFill>
                  <a:srgbClr val="64748B"/>
                </a:solidFill>
              </a:rPr>
              <a:t>cotisation</a:t>
            </a:r>
            <a:r>
              <a:rPr sz="1800" b="0" dirty="0">
                <a:solidFill>
                  <a:srgbClr val="64748B"/>
                </a:solidFill>
              </a:rPr>
              <a:t> </a:t>
            </a:r>
            <a:r>
              <a:rPr sz="1800" b="0" dirty="0" err="1">
                <a:solidFill>
                  <a:srgbClr val="64748B"/>
                </a:solidFill>
              </a:rPr>
              <a:t>annuelle</a:t>
            </a:r>
            <a:r>
              <a:rPr sz="1800" b="0" dirty="0">
                <a:solidFill>
                  <a:srgbClr val="64748B"/>
                </a:solidFill>
              </a:rPr>
              <a:t> de </a:t>
            </a:r>
            <a:r>
              <a:rPr sz="1800" b="0" dirty="0" err="1">
                <a:solidFill>
                  <a:srgbClr val="64748B"/>
                </a:solidFill>
              </a:rPr>
              <a:t>membre</a:t>
            </a:r>
            <a:r>
              <a:rPr lang="es-ES" sz="1800" b="0" dirty="0">
                <a:solidFill>
                  <a:srgbClr val="64748B"/>
                </a:solidFill>
              </a:rPr>
              <a:t>.</a:t>
            </a:r>
            <a:endParaRPr sz="1800" b="0" dirty="0">
              <a:solidFill>
                <a:srgbClr val="64748B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65760" y="3794759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A56DB"/>
                </a:solidFill>
              </a:rPr>
              <a:t>🏢 Sponsor Corporatif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3794759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0B981"/>
                </a:solidFill>
              </a:rPr>
              <a:t>5 000 MRU/mois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1" y="3794759"/>
            <a:ext cx="689193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dirty="0">
                <a:solidFill>
                  <a:srgbClr val="64748B"/>
                </a:solidFill>
              </a:rPr>
              <a:t>Logo sur la landing page, section </a:t>
            </a:r>
            <a:r>
              <a:rPr sz="1800" b="0" dirty="0" err="1">
                <a:solidFill>
                  <a:srgbClr val="64748B"/>
                </a:solidFill>
              </a:rPr>
              <a:t>partenaires</a:t>
            </a:r>
            <a:r>
              <a:rPr sz="1800" b="0" dirty="0">
                <a:solidFill>
                  <a:srgbClr val="64748B"/>
                </a:solidFill>
              </a:rPr>
              <a:t>, modal contact — 5 sponsors </a:t>
            </a:r>
            <a:r>
              <a:rPr sz="1800" b="0" dirty="0" err="1">
                <a:solidFill>
                  <a:srgbClr val="64748B"/>
                </a:solidFill>
              </a:rPr>
              <a:t>actifs</a:t>
            </a:r>
            <a:r>
              <a:rPr lang="es-ES" sz="1800" b="0" dirty="0">
                <a:solidFill>
                  <a:srgbClr val="64748B"/>
                </a:solidFill>
              </a:rPr>
              <a:t>.</a:t>
            </a:r>
            <a:endParaRPr sz="1800" b="0" dirty="0">
              <a:solidFill>
                <a:srgbClr val="64748B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365760" y="466344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A56DB"/>
                </a:solidFill>
              </a:rPr>
              <a:t>📣 Visibilité Premium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466344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0B981"/>
                </a:solidFill>
              </a:rPr>
              <a:t>Inclus Premium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0" y="4663440"/>
            <a:ext cx="689193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dirty="0">
                <a:solidFill>
                  <a:srgbClr val="64748B"/>
                </a:solidFill>
              </a:rPr>
              <a:t>Événements à la </a:t>
            </a:r>
            <a:r>
              <a:rPr sz="1800" b="0" dirty="0" err="1">
                <a:solidFill>
                  <a:srgbClr val="64748B"/>
                </a:solidFill>
              </a:rPr>
              <a:t>une</a:t>
            </a:r>
            <a:r>
              <a:rPr sz="1800" b="0" dirty="0">
                <a:solidFill>
                  <a:srgbClr val="64748B"/>
                </a:solidFill>
              </a:rPr>
              <a:t> (carousel), badge </a:t>
            </a:r>
            <a:r>
              <a:rPr sz="1800" b="0" dirty="0" err="1">
                <a:solidFill>
                  <a:srgbClr val="64748B"/>
                </a:solidFill>
              </a:rPr>
              <a:t>exclusif</a:t>
            </a:r>
            <a:r>
              <a:rPr sz="1800" b="0" dirty="0">
                <a:solidFill>
                  <a:srgbClr val="64748B"/>
                </a:solidFill>
              </a:rPr>
              <a:t>, </a:t>
            </a:r>
            <a:r>
              <a:rPr sz="1800" b="0" dirty="0" err="1">
                <a:solidFill>
                  <a:srgbClr val="64748B"/>
                </a:solidFill>
              </a:rPr>
              <a:t>priorité</a:t>
            </a:r>
            <a:r>
              <a:rPr sz="1800" b="0" dirty="0">
                <a:solidFill>
                  <a:srgbClr val="64748B"/>
                </a:solidFill>
              </a:rPr>
              <a:t> </a:t>
            </a:r>
            <a:r>
              <a:rPr sz="1800" b="0" dirty="0" err="1">
                <a:solidFill>
                  <a:srgbClr val="64748B"/>
                </a:solidFill>
              </a:rPr>
              <a:t>d'affichage</a:t>
            </a:r>
            <a:r>
              <a:rPr sz="1800" b="0" dirty="0">
                <a:solidFill>
                  <a:srgbClr val="64748B"/>
                </a:solidFill>
              </a:rPr>
              <a:t> dans le catalogue</a:t>
            </a:r>
            <a:r>
              <a:rPr lang="es-ES" sz="1800" b="0" dirty="0">
                <a:solidFill>
                  <a:srgbClr val="64748B"/>
                </a:solidFill>
              </a:rPr>
              <a:t>.</a:t>
            </a:r>
            <a:endParaRPr sz="1800" b="0" dirty="0">
              <a:solidFill>
                <a:srgbClr val="64748B"/>
              </a:solidFill>
            </a:endParaRPr>
          </a:p>
        </p:txBody>
      </p:sp>
      <p:sp>
        <p:nvSpPr>
          <p:cNvPr id="21" name="Shape 0">
            <a:extLst>
              <a:ext uri="{FF2B5EF4-FFF2-40B4-BE49-F238E27FC236}">
                <a16:creationId xmlns:a16="http://schemas.microsoft.com/office/drawing/2014/main" id="{EBC3C777-7705-A00C-3C8D-56AA60C3C4B3}"/>
              </a:ext>
            </a:extLst>
          </p:cNvPr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B6B92C4-2F87-4EDB-DCD2-26CB00665D05}"/>
              </a:ext>
            </a:extLst>
          </p:cNvPr>
          <p:cNvSpPr txBox="1"/>
          <p:nvPr/>
        </p:nvSpPr>
        <p:spPr>
          <a:xfrm>
            <a:off x="365760" y="179109"/>
            <a:ext cx="69117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200" b="1" dirty="0">
                <a:solidFill>
                  <a:schemeClr val="bg1"/>
                </a:solidFill>
              </a:rPr>
              <a:t>05 — Modèle Économique Freemium</a:t>
            </a:r>
          </a:p>
        </p:txBody>
      </p:sp>
      <p:sp>
        <p:nvSpPr>
          <p:cNvPr id="23" name="Shape 14">
            <a:extLst>
              <a:ext uri="{FF2B5EF4-FFF2-40B4-BE49-F238E27FC236}">
                <a16:creationId xmlns:a16="http://schemas.microsoft.com/office/drawing/2014/main" id="{E9556E54-A3F9-E8A7-E8E8-2ED561413580}"/>
              </a:ext>
            </a:extLst>
          </p:cNvPr>
          <p:cNvSpPr/>
          <p:nvPr/>
        </p:nvSpPr>
        <p:spPr>
          <a:xfrm>
            <a:off x="11445083" y="6294277"/>
            <a:ext cx="502920" cy="3657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r>
              <a:rPr lang="es-ES" sz="1800" b="1" dirty="0">
                <a:solidFill>
                  <a:schemeClr val="bg1"/>
                </a:solidFill>
              </a:rPr>
              <a:t>  </a:t>
            </a:r>
            <a:r>
              <a:rPr lang="es-ES" b="1" dirty="0">
                <a:solidFill>
                  <a:schemeClr val="bg1"/>
                </a:solidFill>
              </a:rPr>
              <a:t>6</a:t>
            </a:r>
            <a:endParaRPr lang="es-ES" sz="18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CBA5EB-7A21-4E80-C6E5-BE060CECB8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FED45046-6BF0-B2D3-18EA-2C2F0D0E656A}"/>
              </a:ext>
            </a:extLst>
          </p:cNvPr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EA36D3-EB7F-2F61-06B7-0D1503EA7397}"/>
              </a:ext>
            </a:extLst>
          </p:cNvPr>
          <p:cNvSpPr txBox="1"/>
          <p:nvPr/>
        </p:nvSpPr>
        <p:spPr>
          <a:xfrm>
            <a:off x="546755" y="226243"/>
            <a:ext cx="89731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kumimoji="0" lang="es-E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06 — </a:t>
            </a:r>
            <a:r>
              <a:rPr kumimoji="0" lang="es-ES" sz="32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Conceptions</a:t>
            </a:r>
            <a:r>
              <a:rPr lang="es-ES" sz="3200" b="1" dirty="0">
                <a:solidFill>
                  <a:prstClr val="white"/>
                </a:solidFill>
              </a:rPr>
              <a:t> - </a:t>
            </a:r>
            <a:r>
              <a:rPr lang="es-ES" sz="3200" b="1" dirty="0" err="1">
                <a:solidFill>
                  <a:prstClr val="white"/>
                </a:solidFill>
              </a:rPr>
              <a:t>Diagramme</a:t>
            </a:r>
            <a:r>
              <a:rPr lang="es-ES" sz="3200" b="1" dirty="0">
                <a:solidFill>
                  <a:prstClr val="white"/>
                </a:solidFill>
              </a:rPr>
              <a:t> de cas </a:t>
            </a:r>
            <a:r>
              <a:rPr lang="es-ES" sz="3200" b="1" dirty="0" err="1">
                <a:solidFill>
                  <a:prstClr val="white"/>
                </a:solidFill>
              </a:rPr>
              <a:t>d'utilisation</a:t>
            </a:r>
            <a:endParaRPr kumimoji="0" lang="es-ES" sz="3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ED436377-9273-7BE0-E399-D2B9C4C17E92}"/>
              </a:ext>
            </a:extLst>
          </p:cNvPr>
          <p:cNvSpPr/>
          <p:nvPr/>
        </p:nvSpPr>
        <p:spPr>
          <a:xfrm>
            <a:off x="11445083" y="6294277"/>
            <a:ext cx="502920" cy="3657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7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529F148-F59F-F09D-0F6A-77867BC794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369" y="1080485"/>
            <a:ext cx="9720000" cy="6170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42608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EBE83D-FC5D-7BBA-7620-C7D1258BA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8A1D30BF-C719-2BFD-6D62-DE8DE2FA41D7}"/>
              </a:ext>
            </a:extLst>
          </p:cNvPr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606AFC-CC2D-2842-1B0E-3B8E418E6DB2}"/>
              </a:ext>
            </a:extLst>
          </p:cNvPr>
          <p:cNvSpPr txBox="1"/>
          <p:nvPr/>
        </p:nvSpPr>
        <p:spPr>
          <a:xfrm>
            <a:off x="546755" y="226243"/>
            <a:ext cx="92576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s-ES" sz="3200" b="1" dirty="0">
                <a:solidFill>
                  <a:prstClr val="white"/>
                </a:solidFill>
              </a:rPr>
              <a:t>06 — </a:t>
            </a:r>
            <a:r>
              <a:rPr lang="es-ES" sz="3200" b="1" dirty="0" err="1">
                <a:solidFill>
                  <a:prstClr val="white"/>
                </a:solidFill>
              </a:rPr>
              <a:t>Conceptions</a:t>
            </a:r>
            <a:r>
              <a:rPr lang="es-ES" sz="3200" b="1" dirty="0">
                <a:solidFill>
                  <a:prstClr val="white"/>
                </a:solidFill>
              </a:rPr>
              <a:t> - </a:t>
            </a:r>
            <a:r>
              <a:rPr lang="es-ES" sz="3200" b="1" dirty="0" err="1">
                <a:solidFill>
                  <a:prstClr val="white"/>
                </a:solidFill>
              </a:rPr>
              <a:t>Diagramme</a:t>
            </a:r>
            <a:r>
              <a:rPr lang="es-ES" sz="3200" b="1" dirty="0">
                <a:solidFill>
                  <a:prstClr val="white"/>
                </a:solidFill>
              </a:rPr>
              <a:t> de cas </a:t>
            </a:r>
            <a:r>
              <a:rPr lang="es-ES" sz="3200" b="1" dirty="0" err="1">
                <a:solidFill>
                  <a:prstClr val="white"/>
                </a:solidFill>
              </a:rPr>
              <a:t>d'utilisation</a:t>
            </a:r>
            <a:endParaRPr lang="es-ES" sz="3200" b="1" dirty="0">
              <a:solidFill>
                <a:prstClr val="white"/>
              </a:solidFill>
            </a:endParaRPr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1BA972BA-7A93-9DCA-6125-CD5BE3D8D074}"/>
              </a:ext>
            </a:extLst>
          </p:cNvPr>
          <p:cNvSpPr/>
          <p:nvPr/>
        </p:nvSpPr>
        <p:spPr>
          <a:xfrm>
            <a:off x="11445083" y="6294277"/>
            <a:ext cx="502920" cy="3657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7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66C698-84AA-C6E9-6F28-75617E6F00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6070" y="1005840"/>
            <a:ext cx="7200000" cy="6207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45446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5F96FC-6B9D-4D75-D26A-AA1969EDC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69173458-7822-270A-0515-1CACEDC8F079}"/>
              </a:ext>
            </a:extLst>
          </p:cNvPr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8413082-1665-FB80-838C-EECA9E7D9E5E}"/>
              </a:ext>
            </a:extLst>
          </p:cNvPr>
          <p:cNvSpPr txBox="1"/>
          <p:nvPr/>
        </p:nvSpPr>
        <p:spPr>
          <a:xfrm>
            <a:off x="546755" y="226243"/>
            <a:ext cx="1124900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kumimoji="0" lang="es-E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06 — </a:t>
            </a:r>
            <a:r>
              <a:rPr kumimoji="0" lang="es-ES" sz="32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Conceptions</a:t>
            </a:r>
            <a:r>
              <a:rPr lang="es-ES" sz="3200" b="1" dirty="0">
                <a:solidFill>
                  <a:prstClr val="white"/>
                </a:solidFill>
              </a:rPr>
              <a:t> - </a:t>
            </a:r>
            <a:r>
              <a:rPr lang="es-ES" sz="3200" b="1" dirty="0" err="1">
                <a:solidFill>
                  <a:prstClr val="white"/>
                </a:solidFill>
              </a:rPr>
              <a:t>Diagrammes</a:t>
            </a:r>
            <a:r>
              <a:rPr lang="es-ES" sz="3200" b="1" dirty="0">
                <a:solidFill>
                  <a:prstClr val="white"/>
                </a:solidFill>
              </a:rPr>
              <a:t> de </a:t>
            </a:r>
            <a:r>
              <a:rPr lang="es-ES" sz="3200" b="1" dirty="0" err="1">
                <a:solidFill>
                  <a:prstClr val="white"/>
                </a:solidFill>
              </a:rPr>
              <a:t>Séquence</a:t>
            </a:r>
            <a:r>
              <a:rPr lang="es-ES" sz="3200" b="1" dirty="0">
                <a:solidFill>
                  <a:prstClr val="white"/>
                </a:solidFill>
              </a:rPr>
              <a:t> (</a:t>
            </a:r>
            <a:r>
              <a:rPr lang="es-ES" sz="3200" b="1" dirty="0" err="1">
                <a:solidFill>
                  <a:prstClr val="white"/>
                </a:solidFill>
              </a:rPr>
              <a:t>Authentification</a:t>
            </a:r>
            <a:r>
              <a:rPr lang="es-ES" sz="3200" b="1" dirty="0">
                <a:solidFill>
                  <a:prstClr val="white"/>
                </a:solidFill>
              </a:rPr>
              <a:t>)</a:t>
            </a:r>
            <a:endParaRPr kumimoji="0" lang="es-ES" sz="3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860DE342-F8DF-C750-3EAE-1E7AF9A48289}"/>
              </a:ext>
            </a:extLst>
          </p:cNvPr>
          <p:cNvSpPr/>
          <p:nvPr/>
        </p:nvSpPr>
        <p:spPr>
          <a:xfrm>
            <a:off x="11445083" y="6294277"/>
            <a:ext cx="502920" cy="3657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7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46B6C8C-4FF1-C9A6-911F-1E93A005FC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7939" y="1058677"/>
            <a:ext cx="8676122" cy="5799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22886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12230-2C15-D813-D58D-3525B1F818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6A46FEB4-C1AB-6769-423A-040AFBE30099}"/>
              </a:ext>
            </a:extLst>
          </p:cNvPr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CC93EE-D943-0242-C7CA-C2679DBB0C73}"/>
              </a:ext>
            </a:extLst>
          </p:cNvPr>
          <p:cNvSpPr txBox="1"/>
          <p:nvPr/>
        </p:nvSpPr>
        <p:spPr>
          <a:xfrm>
            <a:off x="546755" y="226243"/>
            <a:ext cx="112591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kumimoji="0" lang="es-E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06 — </a:t>
            </a:r>
            <a:r>
              <a:rPr lang="fr-FR" sz="3200" b="1" dirty="0">
                <a:solidFill>
                  <a:prstClr val="white"/>
                </a:solidFill>
              </a:rPr>
              <a:t>Création d'une Association (Validation Admin)</a:t>
            </a:r>
            <a:endParaRPr kumimoji="0" lang="es-ES" sz="3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D237C34F-DA4E-F162-C262-FB818DB3A5FA}"/>
              </a:ext>
            </a:extLst>
          </p:cNvPr>
          <p:cNvSpPr/>
          <p:nvPr/>
        </p:nvSpPr>
        <p:spPr>
          <a:xfrm>
            <a:off x="11445083" y="6294277"/>
            <a:ext cx="502920" cy="3657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7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527BAC0-5368-0870-F48D-5C2495874A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2698" y="1714351"/>
            <a:ext cx="8706604" cy="3429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03322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B29780-A682-FD68-B958-19B98DC63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E56DBA30-665D-3F9B-658B-EE40A8C4EE3A}"/>
              </a:ext>
            </a:extLst>
          </p:cNvPr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31BD804-83B5-1E0B-3FD1-03CD6D3B9875}"/>
              </a:ext>
            </a:extLst>
          </p:cNvPr>
          <p:cNvSpPr txBox="1"/>
          <p:nvPr/>
        </p:nvSpPr>
        <p:spPr>
          <a:xfrm>
            <a:off x="546755" y="226243"/>
            <a:ext cx="81857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kumimoji="0" lang="es-E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06 — </a:t>
            </a:r>
            <a:r>
              <a:rPr kumimoji="0" lang="es-ES" sz="32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Conceptions</a:t>
            </a:r>
            <a:r>
              <a:rPr lang="es-ES" sz="3200" b="1" dirty="0">
                <a:solidFill>
                  <a:prstClr val="white"/>
                </a:solidFill>
              </a:rPr>
              <a:t> - </a:t>
            </a:r>
            <a:r>
              <a:rPr lang="es-ES" sz="3200" b="1" dirty="0" err="1">
                <a:solidFill>
                  <a:prstClr val="white"/>
                </a:solidFill>
              </a:rPr>
              <a:t>Création</a:t>
            </a:r>
            <a:r>
              <a:rPr lang="es-ES" sz="3200" b="1" dirty="0">
                <a:solidFill>
                  <a:prstClr val="white"/>
                </a:solidFill>
              </a:rPr>
              <a:t> </a:t>
            </a:r>
            <a:r>
              <a:rPr lang="es-ES" sz="3200" b="1" dirty="0" err="1">
                <a:solidFill>
                  <a:prstClr val="white"/>
                </a:solidFill>
              </a:rPr>
              <a:t>d'Événement</a:t>
            </a:r>
            <a:endParaRPr kumimoji="0" lang="es-ES" sz="3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0C7F2467-2C10-C9E2-549E-744B2ABBD771}"/>
              </a:ext>
            </a:extLst>
          </p:cNvPr>
          <p:cNvSpPr/>
          <p:nvPr/>
        </p:nvSpPr>
        <p:spPr>
          <a:xfrm>
            <a:off x="11445083" y="6294277"/>
            <a:ext cx="502920" cy="3657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7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7995752-7FA3-5747-7D2E-37CB3E398D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568" y="1742929"/>
            <a:ext cx="8580864" cy="3372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46544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2A932F-4865-653F-1F40-195F1D530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678CF5EC-ADE0-DA53-B840-B8D3105550BA}"/>
              </a:ext>
            </a:extLst>
          </p:cNvPr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00945A-3DE3-1EAE-8B34-B2A7B19A30A0}"/>
              </a:ext>
            </a:extLst>
          </p:cNvPr>
          <p:cNvSpPr txBox="1"/>
          <p:nvPr/>
        </p:nvSpPr>
        <p:spPr>
          <a:xfrm>
            <a:off x="546755" y="226243"/>
            <a:ext cx="756600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kumimoji="0" lang="es-E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06 — </a:t>
            </a:r>
            <a:r>
              <a:rPr kumimoji="0" lang="es-ES" sz="32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Conceptions</a:t>
            </a:r>
            <a:r>
              <a:rPr lang="es-ES" sz="3200" b="1" dirty="0">
                <a:solidFill>
                  <a:prstClr val="white"/>
                </a:solidFill>
              </a:rPr>
              <a:t> - </a:t>
            </a:r>
            <a:r>
              <a:rPr lang="es-ES" sz="3200" b="1" dirty="0" err="1">
                <a:solidFill>
                  <a:prstClr val="white"/>
                </a:solidFill>
              </a:rPr>
              <a:t>diagramme</a:t>
            </a:r>
            <a:r>
              <a:rPr lang="es-ES" sz="3200" b="1" dirty="0">
                <a:solidFill>
                  <a:prstClr val="white"/>
                </a:solidFill>
              </a:rPr>
              <a:t> de </a:t>
            </a:r>
            <a:r>
              <a:rPr lang="es-ES" sz="3200" b="1" dirty="0" err="1">
                <a:solidFill>
                  <a:prstClr val="white"/>
                </a:solidFill>
              </a:rPr>
              <a:t>classes</a:t>
            </a:r>
            <a:endParaRPr kumimoji="0" lang="es-ES" sz="3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BA08B4A4-C23A-DB20-6EF8-4F790DE0434F}"/>
              </a:ext>
            </a:extLst>
          </p:cNvPr>
          <p:cNvSpPr/>
          <p:nvPr/>
        </p:nvSpPr>
        <p:spPr>
          <a:xfrm>
            <a:off x="11445083" y="6294277"/>
            <a:ext cx="502920" cy="3657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7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48E2D66-F0BD-D86E-4240-3871221747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5280" y="1106778"/>
            <a:ext cx="6801439" cy="5524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29275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65760" y="105156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Sprint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10515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Focus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0515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Points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105156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Statut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10515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Livrables principaux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55448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A56DB"/>
                </a:solidFill>
              </a:rPr>
              <a:t>Sprint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15544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293B"/>
                </a:solidFill>
              </a:rPr>
              <a:t>Initialisation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155448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0B981"/>
                </a:solidFill>
              </a:rPr>
              <a:t>22 pts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155448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/>
              <a:t>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155448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64748B"/>
                </a:solidFill>
              </a:rPr>
              <a:t>Vision produit, backlog, DoD, environnement Git, architecture MVC validée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2395728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A56DB"/>
                </a:solidFill>
              </a:rPr>
              <a:t>Sprint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2395728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293B"/>
                </a:solidFill>
              </a:rPr>
              <a:t>Auth &amp; Associations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2395728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0B981"/>
                </a:solidFill>
              </a:rPr>
              <a:t>23 pts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239572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/>
              <a:t>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2395728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64748B"/>
                </a:solidFill>
              </a:rPr>
              <a:t>Inscription, JWT, email confirm, rôles, annuaire associations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236976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A56DB"/>
                </a:solidFill>
              </a:rPr>
              <a:t>Sprint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3236976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293B"/>
                </a:solidFill>
              </a:rPr>
              <a:t>Adhésions &amp; Événements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3236976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0B981"/>
                </a:solidFill>
              </a:rPr>
              <a:t>31 pts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3236976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/>
              <a:t>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0" y="3236976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64748B"/>
                </a:solidFill>
              </a:rPr>
              <a:t>Anti-conflit salle, inscriptions, tarification, liste nominative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4078224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A56DB"/>
                </a:solidFill>
              </a:rPr>
              <a:t>Sprint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00200" y="4078224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293B"/>
                </a:solidFill>
              </a:rPr>
              <a:t>Notifs &amp; Dashboards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74720" y="4078224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0B981"/>
                </a:solidFill>
              </a:rPr>
              <a:t>29 pts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4078224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/>
              <a:t>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03520" y="4078224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64748B"/>
                </a:solidFill>
              </a:rPr>
              <a:t>Emails auto, cron rappels, trésorerie, historique participant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4919472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A56DB"/>
                </a:solidFill>
              </a:rPr>
              <a:t>Sprint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00200" y="4919472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293B"/>
                </a:solidFill>
              </a:rPr>
              <a:t>Freemium &amp; Livraison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74720" y="4919472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0B981"/>
                </a:solidFill>
              </a:rPr>
              <a:t>29 pts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34840" y="4919472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/>
              <a:t>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03520" y="4919472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64748B"/>
                </a:solidFill>
              </a:rPr>
              <a:t>RBAC complet, commissions, sponsors, Swagger, corrections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5920504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dirty="0">
                <a:solidFill>
                  <a:srgbClr val="1A56DB"/>
                </a:solidFill>
              </a:rPr>
              <a:t>Total : 134 points story  |  5 sprints  |  100% </a:t>
            </a:r>
            <a:r>
              <a:rPr sz="1800" b="1" dirty="0" err="1">
                <a:solidFill>
                  <a:srgbClr val="1A56DB"/>
                </a:solidFill>
              </a:rPr>
              <a:t>complété</a:t>
            </a:r>
            <a:endParaRPr sz="1800" b="1" dirty="0">
              <a:solidFill>
                <a:srgbClr val="1A56DB"/>
              </a:solidFill>
            </a:endParaRPr>
          </a:p>
        </p:txBody>
      </p:sp>
      <p:sp>
        <p:nvSpPr>
          <p:cNvPr id="36" name="Shape 14">
            <a:extLst>
              <a:ext uri="{FF2B5EF4-FFF2-40B4-BE49-F238E27FC236}">
                <a16:creationId xmlns:a16="http://schemas.microsoft.com/office/drawing/2014/main" id="{B711363B-AFD9-A70D-257F-779212996399}"/>
              </a:ext>
            </a:extLst>
          </p:cNvPr>
          <p:cNvSpPr/>
          <p:nvPr/>
        </p:nvSpPr>
        <p:spPr>
          <a:xfrm>
            <a:off x="11482791" y="6331984"/>
            <a:ext cx="502920" cy="3657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r>
              <a:rPr lang="es-ES" sz="1800" b="1" dirty="0">
                <a:solidFill>
                  <a:schemeClr val="bg1"/>
                </a:solidFill>
              </a:rPr>
              <a:t>  8</a:t>
            </a:r>
          </a:p>
        </p:txBody>
      </p:sp>
      <p:sp>
        <p:nvSpPr>
          <p:cNvPr id="37" name="Shape 0">
            <a:extLst>
              <a:ext uri="{FF2B5EF4-FFF2-40B4-BE49-F238E27FC236}">
                <a16:creationId xmlns:a16="http://schemas.microsoft.com/office/drawing/2014/main" id="{BB6BFB96-E48B-FF92-6C42-D06257294500}"/>
              </a:ext>
            </a:extLst>
          </p:cNvPr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EA831FC-836F-5DF6-9758-17A9B6A343E8}"/>
              </a:ext>
            </a:extLst>
          </p:cNvPr>
          <p:cNvSpPr txBox="1"/>
          <p:nvPr/>
        </p:nvSpPr>
        <p:spPr>
          <a:xfrm>
            <a:off x="365760" y="226243"/>
            <a:ext cx="88065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200" b="1" dirty="0">
                <a:solidFill>
                  <a:schemeClr val="bg1"/>
                </a:solidFill>
              </a:rPr>
              <a:t>07 — Méthodologie Scrum &amp; Sprints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130AD00A-EBB2-7493-772E-8F22B0BC782E}"/>
              </a:ext>
            </a:extLst>
          </p:cNvPr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3B3A6C5-B5B5-3970-565E-225CEA7A6A6A}"/>
              </a:ext>
            </a:extLst>
          </p:cNvPr>
          <p:cNvSpPr txBox="1"/>
          <p:nvPr/>
        </p:nvSpPr>
        <p:spPr>
          <a:xfrm>
            <a:off x="339365" y="235670"/>
            <a:ext cx="70323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200" b="1" dirty="0">
                <a:solidFill>
                  <a:schemeClr val="bg1"/>
                </a:solidFill>
              </a:rPr>
              <a:t>08 —  Démonstration</a:t>
            </a:r>
          </a:p>
        </p:txBody>
      </p:sp>
      <p:sp>
        <p:nvSpPr>
          <p:cNvPr id="7" name="Shape 14">
            <a:extLst>
              <a:ext uri="{FF2B5EF4-FFF2-40B4-BE49-F238E27FC236}">
                <a16:creationId xmlns:a16="http://schemas.microsoft.com/office/drawing/2014/main" id="{B4ED0B7F-9464-AFAA-8896-A8BAA3D014F8}"/>
              </a:ext>
            </a:extLst>
          </p:cNvPr>
          <p:cNvSpPr/>
          <p:nvPr/>
        </p:nvSpPr>
        <p:spPr>
          <a:xfrm>
            <a:off x="11482791" y="6331984"/>
            <a:ext cx="502920" cy="3657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r>
              <a:rPr lang="es-ES" sz="1800" b="1" dirty="0">
                <a:solidFill>
                  <a:schemeClr val="bg1"/>
                </a:solidFill>
              </a:rPr>
              <a:t>  </a:t>
            </a:r>
            <a:r>
              <a:rPr lang="es-ES" b="1" dirty="0">
                <a:solidFill>
                  <a:schemeClr val="bg1"/>
                </a:solidFill>
              </a:rPr>
              <a:t>9</a:t>
            </a:r>
            <a:endParaRPr lang="es-ES" sz="18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84306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65760" y="109728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0B981"/>
                </a:solidFill>
              </a:rPr>
              <a:t>✅  Ce qui a été livré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645920"/>
            <a:ext cx="5730240" cy="26930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800" dirty="0">
                <a:solidFill>
                  <a:srgbClr val="1E293B"/>
                </a:solidFill>
              </a:rPr>
              <a:t>✓  Plateforme Full</a:t>
            </a:r>
            <a:r>
              <a:rPr lang="es-ES" sz="1800" dirty="0">
                <a:solidFill>
                  <a:srgbClr val="1E293B"/>
                </a:solidFill>
              </a:rPr>
              <a:t>-</a:t>
            </a:r>
            <a:r>
              <a:rPr sz="1800" dirty="0">
                <a:solidFill>
                  <a:srgbClr val="1E293B"/>
                </a:solidFill>
              </a:rPr>
              <a:t>stack </a:t>
            </a:r>
            <a:r>
              <a:rPr sz="1800" dirty="0" err="1">
                <a:solidFill>
                  <a:srgbClr val="1E293B"/>
                </a:solidFill>
              </a:rPr>
              <a:t>fonctionnelle</a:t>
            </a:r>
            <a:r>
              <a:rPr sz="1800" dirty="0">
                <a:solidFill>
                  <a:srgbClr val="1E293B"/>
                </a:solidFill>
              </a:rPr>
              <a:t> (React + Node + MySQL)</a:t>
            </a:r>
          </a:p>
          <a:p>
            <a:pPr>
              <a:spcBef>
                <a:spcPts val="500"/>
              </a:spcBef>
            </a:pPr>
            <a:r>
              <a:rPr sz="1800" dirty="0">
                <a:solidFill>
                  <a:srgbClr val="1E293B"/>
                </a:solidFill>
              </a:rPr>
              <a:t>✓  134 points story </a:t>
            </a:r>
            <a:r>
              <a:rPr sz="1800" dirty="0" err="1">
                <a:solidFill>
                  <a:srgbClr val="1E293B"/>
                </a:solidFill>
              </a:rPr>
              <a:t>livrés</a:t>
            </a:r>
            <a:r>
              <a:rPr sz="1800" dirty="0">
                <a:solidFill>
                  <a:srgbClr val="1E293B"/>
                </a:solidFill>
              </a:rPr>
              <a:t> sur 5 sprints (100%)</a:t>
            </a:r>
          </a:p>
          <a:p>
            <a:pPr>
              <a:spcBef>
                <a:spcPts val="500"/>
              </a:spcBef>
            </a:pPr>
            <a:r>
              <a:rPr sz="1800" dirty="0">
                <a:solidFill>
                  <a:srgbClr val="1E293B"/>
                </a:solidFill>
              </a:rPr>
              <a:t>✓  RBAC complet, JWT </a:t>
            </a:r>
            <a:r>
              <a:rPr sz="1800" dirty="0" err="1">
                <a:solidFill>
                  <a:srgbClr val="1E293B"/>
                </a:solidFill>
              </a:rPr>
              <a:t>sécurisé</a:t>
            </a:r>
            <a:r>
              <a:rPr sz="1800" dirty="0">
                <a:solidFill>
                  <a:srgbClr val="1E293B"/>
                </a:solidFill>
              </a:rPr>
              <a:t>, </a:t>
            </a:r>
            <a:r>
              <a:rPr sz="1800" dirty="0" err="1">
                <a:solidFill>
                  <a:srgbClr val="1E293B"/>
                </a:solidFill>
              </a:rPr>
              <a:t>bcrypt</a:t>
            </a:r>
            <a:r>
              <a:rPr sz="1800" dirty="0">
                <a:solidFill>
                  <a:srgbClr val="1E293B"/>
                </a:solidFill>
              </a:rPr>
              <a:t> Round 10</a:t>
            </a:r>
          </a:p>
          <a:p>
            <a:pPr>
              <a:spcBef>
                <a:spcPts val="500"/>
              </a:spcBef>
            </a:pPr>
            <a:r>
              <a:rPr sz="1800" dirty="0">
                <a:solidFill>
                  <a:srgbClr val="1E293B"/>
                </a:solidFill>
              </a:rPr>
              <a:t>✓  Système de commissions </a:t>
            </a:r>
            <a:r>
              <a:rPr sz="1800" dirty="0" err="1">
                <a:solidFill>
                  <a:srgbClr val="1E293B"/>
                </a:solidFill>
              </a:rPr>
              <a:t>automatisées</a:t>
            </a:r>
            <a:r>
              <a:rPr sz="1800" dirty="0">
                <a:solidFill>
                  <a:srgbClr val="1E293B"/>
                </a:solidFill>
              </a:rPr>
              <a:t> (10% + 5%)</a:t>
            </a:r>
          </a:p>
          <a:p>
            <a:pPr>
              <a:spcBef>
                <a:spcPts val="500"/>
              </a:spcBef>
            </a:pPr>
            <a:r>
              <a:rPr sz="1800" dirty="0">
                <a:solidFill>
                  <a:srgbClr val="1E293B"/>
                </a:solidFill>
              </a:rPr>
              <a:t>✓  5 sponsors </a:t>
            </a:r>
            <a:r>
              <a:rPr sz="1800" dirty="0" err="1">
                <a:solidFill>
                  <a:srgbClr val="1E293B"/>
                </a:solidFill>
              </a:rPr>
              <a:t>réels</a:t>
            </a:r>
            <a:r>
              <a:rPr sz="1800" dirty="0">
                <a:solidFill>
                  <a:srgbClr val="1E293B"/>
                </a:solidFill>
              </a:rPr>
              <a:t> </a:t>
            </a:r>
            <a:r>
              <a:rPr sz="1800" dirty="0" err="1">
                <a:solidFill>
                  <a:srgbClr val="1E293B"/>
                </a:solidFill>
              </a:rPr>
              <a:t>intégrés</a:t>
            </a:r>
            <a:r>
              <a:rPr sz="1800" dirty="0">
                <a:solidFill>
                  <a:srgbClr val="1E293B"/>
                </a:solidFill>
              </a:rPr>
              <a:t> avec </a:t>
            </a:r>
            <a:r>
              <a:rPr sz="1800" dirty="0" err="1">
                <a:solidFill>
                  <a:srgbClr val="1E293B"/>
                </a:solidFill>
              </a:rPr>
              <a:t>espace</a:t>
            </a:r>
            <a:r>
              <a:rPr sz="1800" dirty="0">
                <a:solidFill>
                  <a:srgbClr val="1E293B"/>
                </a:solidFill>
              </a:rPr>
              <a:t> </a:t>
            </a:r>
            <a:r>
              <a:rPr sz="1800" dirty="0" err="1">
                <a:solidFill>
                  <a:srgbClr val="1E293B"/>
                </a:solidFill>
              </a:rPr>
              <a:t>dynamique</a:t>
            </a:r>
            <a:endParaRPr sz="1800" dirty="0">
              <a:solidFill>
                <a:srgbClr val="1E293B"/>
              </a:solidFill>
            </a:endParaRPr>
          </a:p>
          <a:p>
            <a:pPr>
              <a:spcBef>
                <a:spcPts val="500"/>
              </a:spcBef>
            </a:pPr>
            <a:r>
              <a:rPr sz="1800" dirty="0">
                <a:solidFill>
                  <a:srgbClr val="1E293B"/>
                </a:solidFill>
              </a:rPr>
              <a:t>✓  Documentation Swagger </a:t>
            </a:r>
            <a:r>
              <a:rPr sz="1800" dirty="0" err="1">
                <a:solidFill>
                  <a:srgbClr val="1E293B"/>
                </a:solidFill>
              </a:rPr>
              <a:t>complète</a:t>
            </a:r>
            <a:r>
              <a:rPr sz="1800" dirty="0">
                <a:solidFill>
                  <a:srgbClr val="1E293B"/>
                </a:solidFill>
              </a:rPr>
              <a:t> sur /</a:t>
            </a:r>
            <a:r>
              <a:rPr sz="1800" dirty="0" err="1">
                <a:solidFill>
                  <a:srgbClr val="1E293B"/>
                </a:solidFill>
              </a:rPr>
              <a:t>api</a:t>
            </a:r>
            <a:r>
              <a:rPr sz="1800" dirty="0">
                <a:solidFill>
                  <a:srgbClr val="1E293B"/>
                </a:solidFill>
              </a:rPr>
              <a:t>-docs</a:t>
            </a:r>
          </a:p>
          <a:p>
            <a:pPr>
              <a:spcBef>
                <a:spcPts val="500"/>
              </a:spcBef>
            </a:pPr>
            <a:r>
              <a:rPr sz="1800" dirty="0">
                <a:solidFill>
                  <a:srgbClr val="1E293B"/>
                </a:solidFill>
              </a:rPr>
              <a:t>✓  Cron jobs : rappels, </a:t>
            </a:r>
            <a:r>
              <a:rPr sz="1800" dirty="0" err="1">
                <a:solidFill>
                  <a:srgbClr val="1E293B"/>
                </a:solidFill>
              </a:rPr>
              <a:t>révocation</a:t>
            </a:r>
            <a:r>
              <a:rPr sz="1800" dirty="0">
                <a:solidFill>
                  <a:srgbClr val="1E293B"/>
                </a:solidFill>
              </a:rPr>
              <a:t> Premium, </a:t>
            </a:r>
            <a:r>
              <a:rPr sz="1800" dirty="0" err="1">
                <a:solidFill>
                  <a:srgbClr val="1E293B"/>
                </a:solidFill>
              </a:rPr>
              <a:t>archivage</a:t>
            </a:r>
            <a:endParaRPr sz="1800" dirty="0">
              <a:solidFill>
                <a:srgbClr val="1E293B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537960" y="1188720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dirty="0">
                <a:solidFill>
                  <a:srgbClr val="1A56DB"/>
                </a:solidFill>
              </a:rPr>
              <a:t>🚀  Perspectives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96238" y="1815602"/>
            <a:ext cx="7604603" cy="2416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800">
                <a:solidFill>
                  <a:srgbClr val="0EA5E9"/>
                </a:solidFill>
              </a:rPr>
              <a:t>→  Intégration paiement en ligne (Stripe / Bankily API)</a:t>
            </a:r>
          </a:p>
          <a:p>
            <a:pPr>
              <a:spcBef>
                <a:spcPts val="500"/>
              </a:spcBef>
            </a:pPr>
            <a:r>
              <a:rPr sz="1800">
                <a:solidFill>
                  <a:srgbClr val="0EA5E9"/>
                </a:solidFill>
              </a:rPr>
              <a:t>→  Application mobile React Native</a:t>
            </a:r>
          </a:p>
          <a:p>
            <a:pPr>
              <a:spcBef>
                <a:spcPts val="500"/>
              </a:spcBef>
            </a:pPr>
            <a:r>
              <a:rPr sz="1800">
                <a:solidFill>
                  <a:srgbClr val="0EA5E9"/>
                </a:solidFill>
              </a:rPr>
              <a:t>→  Messagerie interne entre membres et responsables</a:t>
            </a:r>
          </a:p>
          <a:p>
            <a:pPr>
              <a:spcBef>
                <a:spcPts val="500"/>
              </a:spcBef>
            </a:pPr>
            <a:r>
              <a:rPr sz="1800">
                <a:solidFill>
                  <a:srgbClr val="0EA5E9"/>
                </a:solidFill>
              </a:rPr>
              <a:t>→  Système de votes et sondages associatifs</a:t>
            </a:r>
          </a:p>
          <a:p>
            <a:pPr>
              <a:spcBef>
                <a:spcPts val="500"/>
              </a:spcBef>
            </a:pPr>
            <a:r>
              <a:rPr sz="1800">
                <a:solidFill>
                  <a:srgbClr val="0EA5E9"/>
                </a:solidFill>
              </a:rPr>
              <a:t>→  Déploiement cloud (VPS / hébergement Mauritanien)</a:t>
            </a:r>
          </a:p>
          <a:p>
            <a:pPr>
              <a:spcBef>
                <a:spcPts val="500"/>
              </a:spcBef>
            </a:pPr>
            <a:r>
              <a:rPr sz="1800">
                <a:solidFill>
                  <a:srgbClr val="0EA5E9"/>
                </a:solidFill>
              </a:rPr>
              <a:t>→  Tableau de bord analytique avancé (graphiques D3.js)</a:t>
            </a:r>
          </a:p>
          <a:p>
            <a:pPr>
              <a:spcBef>
                <a:spcPts val="500"/>
              </a:spcBef>
            </a:pPr>
            <a:r>
              <a:rPr sz="1800">
                <a:solidFill>
                  <a:srgbClr val="0EA5E9"/>
                </a:solidFill>
              </a:rPr>
              <a:t>→  Module candidature aux postes de bureau d'asso</a:t>
            </a:r>
          </a:p>
        </p:txBody>
      </p:sp>
      <p:sp>
        <p:nvSpPr>
          <p:cNvPr id="10" name="Shape 0">
            <a:extLst>
              <a:ext uri="{FF2B5EF4-FFF2-40B4-BE49-F238E27FC236}">
                <a16:creationId xmlns:a16="http://schemas.microsoft.com/office/drawing/2014/main" id="{930B4CCE-DE34-5941-45A9-215D744F0BC6}"/>
              </a:ext>
            </a:extLst>
          </p:cNvPr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4A3C25-9BA5-876D-8D06-D315D087D74D}"/>
              </a:ext>
            </a:extLst>
          </p:cNvPr>
          <p:cNvSpPr txBox="1"/>
          <p:nvPr/>
        </p:nvSpPr>
        <p:spPr>
          <a:xfrm>
            <a:off x="179109" y="131975"/>
            <a:ext cx="76922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200" b="1" dirty="0">
                <a:solidFill>
                  <a:schemeClr val="bg1"/>
                </a:solidFill>
              </a:rPr>
              <a:t>09 — Bilan &amp; Perspectives</a:t>
            </a:r>
          </a:p>
        </p:txBody>
      </p:sp>
      <p:sp>
        <p:nvSpPr>
          <p:cNvPr id="12" name="Shape 14">
            <a:extLst>
              <a:ext uri="{FF2B5EF4-FFF2-40B4-BE49-F238E27FC236}">
                <a16:creationId xmlns:a16="http://schemas.microsoft.com/office/drawing/2014/main" id="{C67E80A2-9D93-18C3-B5CB-D685D2D23411}"/>
              </a:ext>
            </a:extLst>
          </p:cNvPr>
          <p:cNvSpPr/>
          <p:nvPr/>
        </p:nvSpPr>
        <p:spPr>
          <a:xfrm>
            <a:off x="11340445" y="6331984"/>
            <a:ext cx="645266" cy="3657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r>
              <a:rPr lang="es-ES" sz="1800" b="1" dirty="0">
                <a:solidFill>
                  <a:schemeClr val="bg1"/>
                </a:solidFill>
              </a:rPr>
              <a:t>  10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0" descr="preencoded.png">
            <a:extLst>
              <a:ext uri="{FF2B5EF4-FFF2-40B4-BE49-F238E27FC236}">
                <a16:creationId xmlns:a16="http://schemas.microsoft.com/office/drawing/2014/main" id="{54E6C90C-5257-BA83-4FD7-93A5B40754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9565" y="636310"/>
            <a:ext cx="3108960" cy="2651760"/>
          </a:xfrm>
          <a:prstGeom prst="rect">
            <a:avLst/>
          </a:prstGeom>
        </p:spPr>
      </p:pic>
      <p:sp>
        <p:nvSpPr>
          <p:cNvPr id="7" name="Text 0">
            <a:extLst>
              <a:ext uri="{FF2B5EF4-FFF2-40B4-BE49-F238E27FC236}">
                <a16:creationId xmlns:a16="http://schemas.microsoft.com/office/drawing/2014/main" id="{17080C76-358E-E5DE-2257-2DC7E77AE441}"/>
              </a:ext>
            </a:extLst>
          </p:cNvPr>
          <p:cNvSpPr/>
          <p:nvPr/>
        </p:nvSpPr>
        <p:spPr>
          <a:xfrm>
            <a:off x="2196445" y="4116446"/>
            <a:ext cx="7315200" cy="10179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chemeClr val="accent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MERCI</a:t>
            </a:r>
            <a:endParaRPr lang="en-US" sz="2400" b="1" dirty="0">
              <a:solidFill>
                <a:schemeClr val="accent1">
                  <a:lumMod val="50000"/>
                </a:schemeClr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algn="ctr"/>
            <a:r>
              <a:rPr lang="en-US" sz="2000" b="1" kern="0" spc="300" dirty="0">
                <a:solidFill>
                  <a:schemeClr val="accent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VOTRE ATTENTION</a:t>
            </a:r>
            <a:endParaRPr lang="en-US" sz="2000" dirty="0">
              <a:solidFill>
                <a:schemeClr val="accent1">
                  <a:lumMod val="50000"/>
                </a:schemeClr>
              </a:solidFill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7F8C18C4-9014-1220-9DAF-7BE2355A5027}"/>
              </a:ext>
            </a:extLst>
          </p:cNvPr>
          <p:cNvSpPr/>
          <p:nvPr/>
        </p:nvSpPr>
        <p:spPr>
          <a:xfrm>
            <a:off x="11340445" y="6331984"/>
            <a:ext cx="645266" cy="3657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r>
              <a:rPr lang="es-ES" sz="1800" b="1" dirty="0">
                <a:solidFill>
                  <a:schemeClr val="bg1"/>
                </a:solidFill>
              </a:rPr>
              <a:t>  1</a:t>
            </a:r>
            <a:r>
              <a:rPr lang="es-ES" b="1" dirty="0">
                <a:solidFill>
                  <a:schemeClr val="bg1"/>
                </a:solidFill>
              </a:rPr>
              <a:t>1</a:t>
            </a:r>
            <a:endParaRPr lang="es-ES" sz="18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30315</TotalTime>
  <Words>857</Words>
  <Application>Microsoft Office PowerPoint</Application>
  <PresentationFormat>Widescreen</PresentationFormat>
  <Paragraphs>159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Arial</vt:lpstr>
      <vt:lpstr>Calibri</vt:lpstr>
      <vt:lpstr>Calibri Light</vt:lpstr>
      <vt:lpstr>Wingdings</vt:lpstr>
      <vt:lpstr>Office Theme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Moussa Erebih</dc:creator>
  <cp:lastModifiedBy>Moussa Erebih</cp:lastModifiedBy>
  <cp:revision>95</cp:revision>
  <dcterms:created xsi:type="dcterms:W3CDTF">2025-05-13T00:58:14Z</dcterms:created>
  <dcterms:modified xsi:type="dcterms:W3CDTF">2026-06-15T02:30:47Z</dcterms:modified>
</cp:coreProperties>
</file>