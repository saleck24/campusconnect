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8" r:id="rId12"/>
    <p:sldId id="265" r:id="rId13"/>
    <p:sldId id="266" r:id="rId14"/>
  </p:sldIdLst>
  <p:sldSz cx="12192000" cy="6858000"/>
  <p:notesSz cx="6858000" cy="9144000"/>
  <p:defaultTextStyle>
    <a:defPPr>
      <a:defRPr lang="fr-M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74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M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8F6DD-7A1C-4808-BC5B-7687CFB29988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M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M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F6FDA-74B1-40F1-9AAE-6B7B8AE68C62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42888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5F33-ED6F-E710-C363-3F1B4424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EE4DD-9FE4-C13A-E02E-DE697234B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B415-0488-B50B-42B5-67B425F2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79485-6A49-7DF3-0BCC-06D9DC3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4A137-CF0D-1C91-6F8C-4C72D136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40843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5767-09B5-AE59-138C-14E408E0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4C3DA-49EB-3169-3646-2203AD999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89D22-8F94-DD1A-2965-329D9E3D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EF195-6472-6E4D-EB93-64BE9289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58E8-8DAA-65D6-3056-18506B3D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64499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8C37-572C-83B4-B0BA-9AD96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34979-CCE2-8036-FCD9-9EC6C184E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2324E-34E8-40E6-772C-6DD463F9D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704E4-2F82-9763-98F5-49D58D9F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3619-E6DE-014E-8F30-4C57E27E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16872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E289-C25E-2A71-4265-F6410703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CBC-8EB2-7CB2-976F-7D35882CD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2B883-CC17-F2A4-FCD5-EB2448FF8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54449-C721-8036-566C-324C44449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F6A00-98BE-7DC8-7F91-9905D623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0E077-4B9D-5C73-2B63-98C598D9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226589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3161-6146-CF45-17F4-A0C3D8FD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CC55F-2E36-F56A-BA44-9515A8CDD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214DB-941C-0B67-1391-7DA59C472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3FEFB-14FB-40EB-D437-86F78FAD1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0FEE3-5D22-5040-C87D-EDBA20C30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71960A-36DE-A92A-E000-AC3FBCED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5B44D-80B2-9A73-E8E9-2244D26E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588FD-6F9E-24D8-C325-B829DE8C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519338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832C-74C4-D08D-057A-D7240A69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D00B5-FF77-B5DF-3654-F53148FE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024B3-57E5-19E4-125C-23912CDF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9BF40-57D4-7BF5-24B0-D5AC2E7B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6168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B9EDB-06FE-C23C-B5CD-2E6D9E0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5B1D1-19AC-4C8F-102E-6B9D4827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D9320-18B3-30FB-DEB3-C2655B7B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513971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9A5D-24C2-8C59-6720-81DDFAB9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81AB-ECD4-BB5F-CFC7-1D75D4FDF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90C4C-EF13-8D1E-360A-97819D9A7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BB124-26B1-EB8A-C966-DF3661FC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5821E-FB54-6CA4-7676-4D692532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DCB7F-732C-AEAE-340A-5DAC3A17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70798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F440-CD8A-4943-1FD5-BE63210DD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9AB6A-9943-7249-9A67-3A4F82558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87769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3E04B-6618-31B8-5A39-52397A855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861DC-6EBF-849E-8A32-B3772FDC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B806D-E989-88F3-0756-D383D00B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EE12F-1C45-ACA9-7773-9C07A4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34598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5E10-8599-B819-D2B3-C43A4D08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43696-AE4D-4A6B-679F-38DD07470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39C89-4BC4-D1B0-4625-72532C86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876F2-967E-87A9-814E-17496AC0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2E55-53FB-FB5A-BFF7-25BA3CF8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897277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CDA6A-623C-7937-DBD3-F15B800B5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D826D-3ED8-52EC-3975-C7AC80C90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A1830-7D8A-A578-5893-4C1534AC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444A3-376D-7076-CFB4-34025B46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3E9-9A34-9CBF-98A5-97BCD731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302189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1068FA9-660D-46A3-9FD6-2730BA6F2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5660" y="191069"/>
            <a:ext cx="1624084" cy="1624084"/>
          </a:xfrm>
          <a:custGeom>
            <a:avLst/>
            <a:gdLst>
              <a:gd name="connsiteX0" fmla="*/ 812042 w 1624084"/>
              <a:gd name="connsiteY0" fmla="*/ 0 h 1624084"/>
              <a:gd name="connsiteX1" fmla="*/ 1624084 w 1624084"/>
              <a:gd name="connsiteY1" fmla="*/ 812042 h 1624084"/>
              <a:gd name="connsiteX2" fmla="*/ 812042 w 1624084"/>
              <a:gd name="connsiteY2" fmla="*/ 1624084 h 1624084"/>
              <a:gd name="connsiteX3" fmla="*/ 0 w 1624084"/>
              <a:gd name="connsiteY3" fmla="*/ 812042 h 1624084"/>
              <a:gd name="connsiteX4" fmla="*/ 812042 w 1624084"/>
              <a:gd name="connsiteY4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624084">
                <a:moveTo>
                  <a:pt x="812042" y="0"/>
                </a:moveTo>
                <a:cubicBezTo>
                  <a:pt x="1260520" y="0"/>
                  <a:pt x="1624084" y="363564"/>
                  <a:pt x="1624084" y="812042"/>
                </a:cubicBezTo>
                <a:cubicBezTo>
                  <a:pt x="1624084" y="1260520"/>
                  <a:pt x="1260520" y="1624084"/>
                  <a:pt x="812042" y="1624084"/>
                </a:cubicBezTo>
                <a:cubicBezTo>
                  <a:pt x="363564" y="1624084"/>
                  <a:pt x="0" y="1260520"/>
                  <a:pt x="0" y="812042"/>
                </a:cubicBezTo>
                <a:cubicBezTo>
                  <a:pt x="0" y="363564"/>
                  <a:pt x="363564" y="0"/>
                  <a:pt x="812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5A909C-343A-4950-AF75-AACF79738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22257" y="191069"/>
            <a:ext cx="1624084" cy="1624084"/>
          </a:xfrm>
          <a:custGeom>
            <a:avLst/>
            <a:gdLst>
              <a:gd name="connsiteX0" fmla="*/ 812042 w 1624084"/>
              <a:gd name="connsiteY0" fmla="*/ 0 h 1624084"/>
              <a:gd name="connsiteX1" fmla="*/ 1624084 w 1624084"/>
              <a:gd name="connsiteY1" fmla="*/ 812042 h 1624084"/>
              <a:gd name="connsiteX2" fmla="*/ 812042 w 1624084"/>
              <a:gd name="connsiteY2" fmla="*/ 1624084 h 1624084"/>
              <a:gd name="connsiteX3" fmla="*/ 0 w 1624084"/>
              <a:gd name="connsiteY3" fmla="*/ 812042 h 1624084"/>
              <a:gd name="connsiteX4" fmla="*/ 812042 w 1624084"/>
              <a:gd name="connsiteY4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624084">
                <a:moveTo>
                  <a:pt x="812042" y="0"/>
                </a:moveTo>
                <a:cubicBezTo>
                  <a:pt x="1260520" y="0"/>
                  <a:pt x="1624084" y="363564"/>
                  <a:pt x="1624084" y="812042"/>
                </a:cubicBezTo>
                <a:cubicBezTo>
                  <a:pt x="1624084" y="1260520"/>
                  <a:pt x="1260520" y="1624084"/>
                  <a:pt x="812042" y="1624084"/>
                </a:cubicBezTo>
                <a:cubicBezTo>
                  <a:pt x="363564" y="1624084"/>
                  <a:pt x="0" y="1260520"/>
                  <a:pt x="0" y="812042"/>
                </a:cubicBezTo>
                <a:cubicBezTo>
                  <a:pt x="0" y="363564"/>
                  <a:pt x="363564" y="0"/>
                  <a:pt x="812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7355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5F33-ED6F-E710-C363-3F1B442403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EE4DD-9FE4-C13A-E02E-DE697234B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B415-0488-B50B-42B5-67B425F2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79485-6A49-7DF3-0BCC-06D9DC3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4A137-CF0D-1C91-6F8C-4C72D136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147465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5767-09B5-AE59-138C-14E408E0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4C3DA-49EB-3169-3646-2203AD999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89D22-8F94-DD1A-2965-329D9E3D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EF195-6472-6E4D-EB93-64BE9289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58E8-8DAA-65D6-3056-18506B3D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793724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8C37-572C-83B4-B0BA-9AD96851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34979-CCE2-8036-FCD9-9EC6C184E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2324E-34E8-40E6-772C-6DD463F9D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704E4-2F82-9763-98F5-49D58D9F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33619-E6DE-014E-8F30-4C57E27E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7097891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E289-C25E-2A71-4265-F64107034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7BCBC-8EB2-7CB2-976F-7D35882CD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2B883-CC17-F2A4-FCD5-EB2448FF8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54449-C721-8036-566C-324C44449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F6A00-98BE-7DC8-7F91-9905D6235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0E077-4B9D-5C73-2B63-98C598D92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458998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3161-6146-CF45-17F4-A0C3D8FDA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CC55F-2E36-F56A-BA44-9515A8CDD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214DB-941C-0B67-1391-7DA59C472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93FEFB-14FB-40EB-D437-86F78FAD1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0FEE3-5D22-5040-C87D-EDBA20C30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71960A-36DE-A92A-E000-AC3FBCED0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05B44D-80B2-9A73-E8E9-2244D26E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588FD-6F9E-24D8-C325-B829DE8C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907006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1832C-74C4-D08D-057A-D7240A69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BD00B5-FF77-B5DF-3654-F53148FE5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024B3-57E5-19E4-125C-23912CDF7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9BF40-57D4-7BF5-24B0-D5AC2E7BF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556832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B9EDB-06FE-C23C-B5CD-2E6D9E09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35B1D1-19AC-4C8F-102E-6B9D4827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D9320-18B3-30FB-DEB3-C2655B7B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4226591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19A5D-24C2-8C59-6720-81DDFAB9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81AB-ECD4-BB5F-CFC7-1D75D4FDF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90C4C-EF13-8D1E-360A-97819D9A7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BB124-26B1-EB8A-C966-DF3661FC5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5821E-FB54-6CA4-7676-4D6925328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DCB7F-732C-AEAE-340A-5DAC3A17C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654808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F440-CD8A-4943-1FD5-BE63210DD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9AB6A-9943-7249-9A67-3A4F82558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87769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3E04B-6618-31B8-5A39-52397A855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9861DC-6EBF-849E-8A32-B3772FDCA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B806D-E989-88F3-0756-D383D00B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EE12F-1C45-ACA9-7773-9C07A4009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 dirty="0"/>
          </a:p>
        </p:txBody>
      </p:sp>
    </p:spTree>
    <p:extLst>
      <p:ext uri="{BB962C8B-B14F-4D97-AF65-F5344CB8AC3E}">
        <p14:creationId xmlns:p14="http://schemas.microsoft.com/office/powerpoint/2010/main" val="29689063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5E10-8599-B819-D2B3-C43A4D088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43696-AE4D-4A6B-679F-38DD07470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39C89-4BC4-D1B0-4625-72532C865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876F2-967E-87A9-814E-17496AC0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2E55-53FB-FB5A-BFF7-25BA3CF8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5035942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8CDA6A-623C-7937-DBD3-F15B800B5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D826D-3ED8-52EC-3975-C7AC80C90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A1830-7D8A-A578-5893-4C1534AC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444A3-376D-7076-CFB4-34025B468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83E9-9A34-9CBF-98A5-97BCD731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3193645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1068FA9-660D-46A3-9FD6-2730BA6F2B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5660" y="191069"/>
            <a:ext cx="1624084" cy="1624084"/>
          </a:xfrm>
          <a:custGeom>
            <a:avLst/>
            <a:gdLst>
              <a:gd name="connsiteX0" fmla="*/ 812042 w 1624084"/>
              <a:gd name="connsiteY0" fmla="*/ 0 h 1624084"/>
              <a:gd name="connsiteX1" fmla="*/ 1624084 w 1624084"/>
              <a:gd name="connsiteY1" fmla="*/ 812042 h 1624084"/>
              <a:gd name="connsiteX2" fmla="*/ 812042 w 1624084"/>
              <a:gd name="connsiteY2" fmla="*/ 1624084 h 1624084"/>
              <a:gd name="connsiteX3" fmla="*/ 0 w 1624084"/>
              <a:gd name="connsiteY3" fmla="*/ 812042 h 1624084"/>
              <a:gd name="connsiteX4" fmla="*/ 812042 w 1624084"/>
              <a:gd name="connsiteY4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624084">
                <a:moveTo>
                  <a:pt x="812042" y="0"/>
                </a:moveTo>
                <a:cubicBezTo>
                  <a:pt x="1260520" y="0"/>
                  <a:pt x="1624084" y="363564"/>
                  <a:pt x="1624084" y="812042"/>
                </a:cubicBezTo>
                <a:cubicBezTo>
                  <a:pt x="1624084" y="1260520"/>
                  <a:pt x="1260520" y="1624084"/>
                  <a:pt x="812042" y="1624084"/>
                </a:cubicBezTo>
                <a:cubicBezTo>
                  <a:pt x="363564" y="1624084"/>
                  <a:pt x="0" y="1260520"/>
                  <a:pt x="0" y="812042"/>
                </a:cubicBezTo>
                <a:cubicBezTo>
                  <a:pt x="0" y="363564"/>
                  <a:pt x="363564" y="0"/>
                  <a:pt x="812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45A909C-343A-4950-AF75-AACF79738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22257" y="191069"/>
            <a:ext cx="1624084" cy="1624084"/>
          </a:xfrm>
          <a:custGeom>
            <a:avLst/>
            <a:gdLst>
              <a:gd name="connsiteX0" fmla="*/ 812042 w 1624084"/>
              <a:gd name="connsiteY0" fmla="*/ 0 h 1624084"/>
              <a:gd name="connsiteX1" fmla="*/ 1624084 w 1624084"/>
              <a:gd name="connsiteY1" fmla="*/ 812042 h 1624084"/>
              <a:gd name="connsiteX2" fmla="*/ 812042 w 1624084"/>
              <a:gd name="connsiteY2" fmla="*/ 1624084 h 1624084"/>
              <a:gd name="connsiteX3" fmla="*/ 0 w 1624084"/>
              <a:gd name="connsiteY3" fmla="*/ 812042 h 1624084"/>
              <a:gd name="connsiteX4" fmla="*/ 812042 w 1624084"/>
              <a:gd name="connsiteY4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4084" h="1624084">
                <a:moveTo>
                  <a:pt x="812042" y="0"/>
                </a:moveTo>
                <a:cubicBezTo>
                  <a:pt x="1260520" y="0"/>
                  <a:pt x="1624084" y="363564"/>
                  <a:pt x="1624084" y="812042"/>
                </a:cubicBezTo>
                <a:cubicBezTo>
                  <a:pt x="1624084" y="1260520"/>
                  <a:pt x="1260520" y="1624084"/>
                  <a:pt x="812042" y="1624084"/>
                </a:cubicBezTo>
                <a:cubicBezTo>
                  <a:pt x="363564" y="1624084"/>
                  <a:pt x="0" y="1260520"/>
                  <a:pt x="0" y="812042"/>
                </a:cubicBezTo>
                <a:cubicBezTo>
                  <a:pt x="0" y="363564"/>
                  <a:pt x="363564" y="0"/>
                  <a:pt x="8120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95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95C12-5BEE-4B97-CEC4-DF0A72F8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9374A-9D2E-4A26-F531-DCF3D7193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A981F-4114-2E9D-6E2F-31B913A8E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B70B6-633C-462C-2FFD-BC8B13088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D7B3-C4A0-8BB3-A855-5F6676E63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1753932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95C12-5BEE-4B97-CEC4-DF0A72F8B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M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9374A-9D2E-4A26-F531-DCF3D7193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M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A981F-4114-2E9D-6E2F-31B913A8E0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53EBB8-5D93-480B-8E51-8A5CAA849165}" type="datetimeFigureOut">
              <a:rPr lang="fr-MR" smtClean="0"/>
              <a:t>06/14/2026</a:t>
            </a:fld>
            <a:endParaRPr lang="fr-M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B70B6-633C-462C-2FFD-BC8B13088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1D7B3-C4A0-8BB3-A855-5F6676E63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C44B2-EF24-47DE-AE96-011251291C83}" type="slidenum">
              <a:rPr lang="fr-MR" smtClean="0"/>
              <a:t>‹#›</a:t>
            </a:fld>
            <a:endParaRPr lang="fr-MR"/>
          </a:p>
        </p:txBody>
      </p:sp>
    </p:spTree>
    <p:extLst>
      <p:ext uri="{BB962C8B-B14F-4D97-AF65-F5344CB8AC3E}">
        <p14:creationId xmlns:p14="http://schemas.microsoft.com/office/powerpoint/2010/main" val="2052801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M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19650" y="3158110"/>
            <a:ext cx="6094428" cy="169277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4400" b="1" dirty="0">
                <a:solidFill>
                  <a:srgbClr val="1A56DB"/>
                </a:solidFill>
              </a:rPr>
              <a:t>CampusConnect</a:t>
            </a:r>
            <a:endParaRPr lang="es-ES" sz="4400" b="1" dirty="0">
              <a:solidFill>
                <a:srgbClr val="1A56DB"/>
              </a:solidFill>
            </a:endParaRPr>
          </a:p>
          <a:p>
            <a:pPr algn="ctr"/>
            <a:r>
              <a:rPr lang="fr-FR" sz="2000" b="1" dirty="0">
                <a:solidFill>
                  <a:srgbClr val="1E293B"/>
                </a:solidFill>
              </a:rPr>
              <a:t>Plateforme de gestion de la vie associative et estudiantine</a:t>
            </a:r>
          </a:p>
          <a:p>
            <a:pPr algn="ctr"/>
            <a:endParaRPr sz="2000" b="1" dirty="0">
              <a:solidFill>
                <a:srgbClr val="1A56D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9256" y="6462762"/>
            <a:ext cx="4407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800" b="1" dirty="0"/>
              <a:t>Année universitaire : 2025-2026</a:t>
            </a:r>
            <a:endParaRPr sz="1600" b="1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AD614301-C8B5-BDCE-5541-17BE14C3CFF8}"/>
              </a:ext>
            </a:extLst>
          </p:cNvPr>
          <p:cNvSpPr/>
          <p:nvPr/>
        </p:nvSpPr>
        <p:spPr>
          <a:xfrm>
            <a:off x="565608" y="297180"/>
            <a:ext cx="11029361" cy="1417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49B70A-35C5-A09E-08CF-71A96D93E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922" y="395238"/>
            <a:ext cx="7696200" cy="1152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959E85-CF42-FAE3-9DE7-9804C2EB79D8}"/>
              </a:ext>
            </a:extLst>
          </p:cNvPr>
          <p:cNvSpPr txBox="1"/>
          <p:nvPr/>
        </p:nvSpPr>
        <p:spPr>
          <a:xfrm>
            <a:off x="4956847" y="2166497"/>
            <a:ext cx="24118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u="sng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4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endParaRPr lang="en-US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E11073-0A55-ED01-10D6-6CAA12456C16}"/>
              </a:ext>
            </a:extLst>
          </p:cNvPr>
          <p:cNvSpPr txBox="1"/>
          <p:nvPr/>
        </p:nvSpPr>
        <p:spPr>
          <a:xfrm>
            <a:off x="417137" y="5347187"/>
            <a:ext cx="27974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Saleck BAYA  –  C25362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Moussa EREBIH  –  C21397</a:t>
            </a:r>
            <a:endParaRPr lang="en-US" sz="18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F06048C7-FF54-027B-4326-889492BF0B90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140BC-7B8B-AB7C-8B70-D9FBA2374D94}"/>
              </a:ext>
            </a:extLst>
          </p:cNvPr>
          <p:cNvSpPr txBox="1"/>
          <p:nvPr/>
        </p:nvSpPr>
        <p:spPr>
          <a:xfrm>
            <a:off x="188536" y="202942"/>
            <a:ext cx="116232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PLAN</a:t>
            </a:r>
          </a:p>
          <a:p>
            <a:endParaRPr lang="es-ES" sz="32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FF0A007-F69B-B14F-1E45-6B877DE50426}"/>
              </a:ext>
            </a:extLst>
          </p:cNvPr>
          <p:cNvSpPr/>
          <p:nvPr/>
        </p:nvSpPr>
        <p:spPr>
          <a:xfrm>
            <a:off x="559009" y="1193716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C8D6E8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01   Contexte &amp; Problématique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1D82F761-08F3-CA9D-7F08-85C9E701D17E}"/>
              </a:ext>
            </a:extLst>
          </p:cNvPr>
          <p:cNvSpPr/>
          <p:nvPr/>
        </p:nvSpPr>
        <p:spPr>
          <a:xfrm>
            <a:off x="559009" y="1758146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D6E4F0"/>
          </a:solidFill>
          <a:ln w="12700">
            <a:solidFill>
              <a:srgbClr val="A8C4DC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02   Objectifs du projet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42707F4-20B7-7AEF-AD8F-5D60731446BE}"/>
              </a:ext>
            </a:extLst>
          </p:cNvPr>
          <p:cNvSpPr/>
          <p:nvPr/>
        </p:nvSpPr>
        <p:spPr>
          <a:xfrm>
            <a:off x="559009" y="2322576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C8D6E8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03   Architecture technique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47E30FC-7CF4-43CC-BE67-A91E07EDD7A3}"/>
              </a:ext>
            </a:extLst>
          </p:cNvPr>
          <p:cNvSpPr/>
          <p:nvPr/>
        </p:nvSpPr>
        <p:spPr>
          <a:xfrm>
            <a:off x="559009" y="2887006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D6E4F0"/>
          </a:solidFill>
          <a:ln w="12700">
            <a:solidFill>
              <a:srgbClr val="A8C4DC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04   Fonctionnalités clés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9DCD963-BA73-750A-5DD3-C4A3B984A24C}"/>
              </a:ext>
            </a:extLst>
          </p:cNvPr>
          <p:cNvSpPr/>
          <p:nvPr/>
        </p:nvSpPr>
        <p:spPr>
          <a:xfrm>
            <a:off x="559009" y="3477219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C8D6E8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05   Modèle économique (Freemium)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242D1D12-92A9-025C-9C97-8A9B190E6B6A}"/>
              </a:ext>
            </a:extLst>
          </p:cNvPr>
          <p:cNvSpPr/>
          <p:nvPr/>
        </p:nvSpPr>
        <p:spPr>
          <a:xfrm>
            <a:off x="559009" y="4656671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D6E4F0"/>
          </a:solidFill>
          <a:ln w="12700">
            <a:solidFill>
              <a:srgbClr val="A8C4DC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07   Méthodologie Scrum &amp; Sprints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7B974A6C-2BEE-B1AB-CADF-C96B7D3546CB}"/>
              </a:ext>
            </a:extLst>
          </p:cNvPr>
          <p:cNvSpPr/>
          <p:nvPr/>
        </p:nvSpPr>
        <p:spPr>
          <a:xfrm>
            <a:off x="559009" y="5221101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F4F6F9"/>
          </a:solidFill>
          <a:ln w="12700">
            <a:solidFill>
              <a:srgbClr val="C8D6E8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08   Démonstration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52A09728-2D78-51F4-1B50-168395426FCF}"/>
              </a:ext>
            </a:extLst>
          </p:cNvPr>
          <p:cNvSpPr/>
          <p:nvPr/>
        </p:nvSpPr>
        <p:spPr>
          <a:xfrm>
            <a:off x="559009" y="5820222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D6E4F0"/>
          </a:solidFill>
          <a:ln w="12700">
            <a:solidFill>
              <a:srgbClr val="A8C4DC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09   Bilan &amp; Perspectives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3C839D8-6757-5D5D-3944-A35A7F9A1F9D}"/>
              </a:ext>
            </a:extLst>
          </p:cNvPr>
          <p:cNvSpPr/>
          <p:nvPr/>
        </p:nvSpPr>
        <p:spPr>
          <a:xfrm>
            <a:off x="11560325" y="6396529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dirty="0"/>
          </a:p>
          <a:p>
            <a:endParaRPr lang="es-ES" dirty="0"/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1E252FBC-7CA6-DED3-F017-A5636143E033}"/>
              </a:ext>
            </a:extLst>
          </p:cNvPr>
          <p:cNvSpPr/>
          <p:nvPr/>
        </p:nvSpPr>
        <p:spPr>
          <a:xfrm>
            <a:off x="559009" y="4053526"/>
            <a:ext cx="11318764" cy="493776"/>
          </a:xfrm>
          <a:prstGeom prst="roundRect">
            <a:avLst>
              <a:gd name="adj" fmla="val 11111"/>
            </a:avLst>
          </a:prstGeom>
          <a:solidFill>
            <a:srgbClr val="D6E4F0"/>
          </a:solidFill>
          <a:ln w="12700">
            <a:solidFill>
              <a:srgbClr val="A8C4DC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tx2">
                    <a:lumMod val="50000"/>
                  </a:schemeClr>
                </a:solidFill>
              </a:rPr>
              <a:t>06   Conceptions</a:t>
            </a:r>
          </a:p>
          <a:p>
            <a:endParaRPr lang="es-ES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3951" y="2154025"/>
            <a:ext cx="7975076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sz="1800" b="1" dirty="0"/>
              <a:t>❌  Manque de visibilité des associations étudiantes</a:t>
            </a:r>
          </a:p>
          <a:p>
            <a:pPr marL="285750" indent="-28575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sz="1800" b="1" dirty="0"/>
              <a:t>❌  Gestion des inscriptions aux </a:t>
            </a:r>
            <a:r>
              <a:rPr sz="1800" b="1" dirty="0" err="1"/>
              <a:t>événements</a:t>
            </a:r>
            <a:r>
              <a:rPr sz="1800" b="1" dirty="0"/>
              <a:t> </a:t>
            </a:r>
            <a:r>
              <a:rPr sz="1800" b="1" dirty="0" err="1"/>
              <a:t>dispersée</a:t>
            </a:r>
            <a:r>
              <a:rPr sz="1800" b="1" dirty="0"/>
              <a:t> (papier, WhatsApp)</a:t>
            </a:r>
          </a:p>
          <a:p>
            <a:pPr marL="285750" indent="-28575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sz="1800" b="1" dirty="0"/>
              <a:t>❌  </a:t>
            </a:r>
            <a:r>
              <a:rPr sz="1800" b="1" dirty="0" err="1"/>
              <a:t>Aucune</a:t>
            </a:r>
            <a:r>
              <a:rPr sz="1800" b="1" dirty="0"/>
              <a:t> </a:t>
            </a:r>
            <a:r>
              <a:rPr sz="1800" b="1" dirty="0" err="1"/>
              <a:t>centralisation</a:t>
            </a:r>
            <a:r>
              <a:rPr sz="1800" b="1" dirty="0"/>
              <a:t> des </a:t>
            </a:r>
            <a:r>
              <a:rPr sz="1800" b="1" dirty="0" err="1"/>
              <a:t>ressources</a:t>
            </a:r>
            <a:r>
              <a:rPr sz="1800" b="1" dirty="0"/>
              <a:t>, salles et </a:t>
            </a:r>
            <a:r>
              <a:rPr sz="1800" b="1" dirty="0" err="1"/>
              <a:t>créneaux</a:t>
            </a:r>
            <a:endParaRPr b="1" dirty="0"/>
          </a:p>
          <a:p>
            <a:pPr marL="285750" indent="-285750">
              <a:spcBef>
                <a:spcPts val="800"/>
              </a:spcBef>
              <a:buFont typeface="Wingdings" panose="05000000000000000000" pitchFamily="2" charset="2"/>
              <a:buChar char="Ø"/>
            </a:pPr>
            <a:r>
              <a:rPr sz="1800" b="1" dirty="0"/>
              <a:t>❌  Pas de </a:t>
            </a:r>
            <a:r>
              <a:rPr sz="1800" b="1" dirty="0" err="1"/>
              <a:t>suivi</a:t>
            </a:r>
            <a:r>
              <a:rPr sz="1800" b="1" dirty="0"/>
              <a:t> financier transparent pour les </a:t>
            </a:r>
            <a:r>
              <a:rPr sz="1800" b="1" dirty="0" err="1"/>
              <a:t>responsables</a:t>
            </a:r>
            <a:r>
              <a:rPr sz="1800" b="1" dirty="0"/>
              <a:t> </a:t>
            </a:r>
            <a:r>
              <a:rPr sz="1800" b="1" dirty="0" err="1"/>
              <a:t>d'asso</a:t>
            </a:r>
            <a:endParaRPr b="1" dirty="0"/>
          </a:p>
          <a:p>
            <a:pPr>
              <a:spcBef>
                <a:spcPts val="800"/>
              </a:spcBef>
            </a:pPr>
            <a:endParaRPr sz="1400" b="0" dirty="0">
              <a:solidFill>
                <a:srgbClr val="1E293B"/>
              </a:solidFill>
            </a:endParaRPr>
          </a:p>
          <a:p>
            <a:pPr>
              <a:spcBef>
                <a:spcPts val="800"/>
              </a:spcBef>
            </a:pPr>
            <a:r>
              <a:rPr sz="1800" b="1" dirty="0" err="1"/>
              <a:t>Besoin</a:t>
            </a:r>
            <a:r>
              <a:rPr sz="1800" b="1" dirty="0"/>
              <a:t> </a:t>
            </a:r>
            <a:r>
              <a:rPr lang="es-ES" sz="1800" b="1" dirty="0">
                <a:sym typeface="Wingdings" panose="05000000000000000000" pitchFamily="2" charset="2"/>
              </a:rPr>
              <a:t> </a:t>
            </a:r>
            <a:r>
              <a:rPr sz="1800" b="1" dirty="0" err="1"/>
              <a:t>une</a:t>
            </a:r>
            <a:r>
              <a:rPr sz="1800" b="1" dirty="0"/>
              <a:t> </a:t>
            </a:r>
            <a:r>
              <a:rPr sz="1800" b="1" dirty="0" err="1"/>
              <a:t>plateforme</a:t>
            </a:r>
            <a:r>
              <a:rPr sz="1800" b="1" dirty="0"/>
              <a:t> </a:t>
            </a:r>
            <a:r>
              <a:rPr sz="1800" b="1" dirty="0" err="1"/>
              <a:t>unifiée</a:t>
            </a:r>
            <a:r>
              <a:rPr sz="1800" b="1" dirty="0"/>
              <a:t>, accessible et </a:t>
            </a:r>
            <a:r>
              <a:rPr sz="1800" b="1" dirty="0" err="1"/>
              <a:t>moderne</a:t>
            </a:r>
            <a:endParaRPr b="1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644C01A3-2E16-19FA-92B2-DB7291D4F351}"/>
              </a:ext>
            </a:extLst>
          </p:cNvPr>
          <p:cNvSpPr/>
          <p:nvPr/>
        </p:nvSpPr>
        <p:spPr>
          <a:xfrm>
            <a:off x="0" y="0"/>
            <a:ext cx="1212287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53870B-0E43-9A5A-8DFC-D23BF5AD45CC}"/>
              </a:ext>
            </a:extLst>
          </p:cNvPr>
          <p:cNvSpPr txBox="1"/>
          <p:nvPr/>
        </p:nvSpPr>
        <p:spPr>
          <a:xfrm>
            <a:off x="263951" y="235670"/>
            <a:ext cx="6381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01 — Contexte &amp; Problématique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633D357A-017F-B84D-151C-F33BA7258D04}"/>
              </a:ext>
            </a:extLst>
          </p:cNvPr>
          <p:cNvSpPr/>
          <p:nvPr/>
        </p:nvSpPr>
        <p:spPr>
          <a:xfrm>
            <a:off x="11445083" y="6294277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4078" y="170978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A56DB"/>
                </a:solidFill>
              </a:rPr>
              <a:t>🎯  </a:t>
            </a:r>
            <a:r>
              <a:rPr sz="1800" b="1" dirty="0" err="1">
                <a:solidFill>
                  <a:srgbClr val="1A56DB"/>
                </a:solidFill>
              </a:rPr>
              <a:t>Centraliser</a:t>
            </a:r>
            <a:endParaRPr sz="1400" b="1" dirty="0">
              <a:solidFill>
                <a:srgbClr val="1A56D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11820" y="1634607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1E293B"/>
                </a:solidFill>
              </a:rPr>
              <a:t>Regrouper</a:t>
            </a:r>
            <a:r>
              <a:rPr sz="1800" b="0" dirty="0">
                <a:solidFill>
                  <a:srgbClr val="1E293B"/>
                </a:solidFill>
              </a:rPr>
              <a:t> </a:t>
            </a:r>
            <a:r>
              <a:rPr sz="1800" b="0" dirty="0" err="1">
                <a:solidFill>
                  <a:srgbClr val="1E293B"/>
                </a:solidFill>
              </a:rPr>
              <a:t>toutes</a:t>
            </a:r>
            <a:r>
              <a:rPr sz="1800" b="0" dirty="0">
                <a:solidFill>
                  <a:srgbClr val="1E293B"/>
                </a:solidFill>
              </a:rPr>
              <a:t> les associations, événements et ressources sur </a:t>
            </a:r>
            <a:r>
              <a:rPr sz="1800" b="0" dirty="0" err="1">
                <a:solidFill>
                  <a:srgbClr val="1E293B"/>
                </a:solidFill>
              </a:rPr>
              <a:t>une</a:t>
            </a:r>
            <a:r>
              <a:rPr sz="1800" b="0" dirty="0">
                <a:solidFill>
                  <a:srgbClr val="1E293B"/>
                </a:solidFill>
              </a:rPr>
              <a:t> </a:t>
            </a:r>
            <a:r>
              <a:rPr sz="1800" b="0" dirty="0" err="1">
                <a:solidFill>
                  <a:srgbClr val="1E293B"/>
                </a:solidFill>
              </a:rPr>
              <a:t>seule</a:t>
            </a:r>
            <a:r>
              <a:rPr sz="1800" b="0" dirty="0">
                <a:solidFill>
                  <a:srgbClr val="1E293B"/>
                </a:solidFill>
              </a:rPr>
              <a:t> </a:t>
            </a:r>
            <a:r>
              <a:rPr sz="1800" b="0" dirty="0" err="1">
                <a:solidFill>
                  <a:srgbClr val="1E293B"/>
                </a:solidFill>
              </a:rPr>
              <a:t>plateforme</a:t>
            </a:r>
            <a:r>
              <a:rPr sz="1800" b="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078" y="260332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A56DB"/>
                </a:solidFill>
              </a:rPr>
              <a:t>⚡  </a:t>
            </a:r>
            <a:r>
              <a:rPr sz="1800" b="1" dirty="0" err="1">
                <a:solidFill>
                  <a:srgbClr val="1A56DB"/>
                </a:solidFill>
              </a:rPr>
              <a:t>Automatiser</a:t>
            </a:r>
            <a:endParaRPr sz="1400" b="1" dirty="0">
              <a:solidFill>
                <a:srgbClr val="1A56D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11820" y="2469587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</a:rPr>
              <a:t>Inscription aux événements, paiements, notifications, </a:t>
            </a:r>
            <a:r>
              <a:rPr sz="1800" b="0" dirty="0" err="1">
                <a:solidFill>
                  <a:srgbClr val="1E293B"/>
                </a:solidFill>
              </a:rPr>
              <a:t>cotisations</a:t>
            </a:r>
            <a:r>
              <a:rPr sz="1800" b="0" dirty="0">
                <a:solidFill>
                  <a:srgbClr val="1E293B"/>
                </a:solidFill>
              </a:rPr>
              <a:t> — </a:t>
            </a:r>
            <a:r>
              <a:rPr sz="1800" b="0" dirty="0" err="1">
                <a:solidFill>
                  <a:srgbClr val="1E293B"/>
                </a:solidFill>
              </a:rPr>
              <a:t>zéro</a:t>
            </a:r>
            <a:r>
              <a:rPr sz="1800" b="0" dirty="0">
                <a:solidFill>
                  <a:srgbClr val="1E293B"/>
                </a:solidFill>
              </a:rPr>
              <a:t> papier.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078" y="3375623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A56DB"/>
                </a:solidFill>
              </a:rPr>
              <a:t>🔐  </a:t>
            </a:r>
            <a:r>
              <a:rPr sz="1800" b="1" dirty="0" err="1">
                <a:solidFill>
                  <a:srgbClr val="1A56DB"/>
                </a:solidFill>
              </a:rPr>
              <a:t>Sécuriser</a:t>
            </a:r>
            <a:endParaRPr sz="1400" b="1" dirty="0">
              <a:solidFill>
                <a:srgbClr val="1A56D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1820" y="3463644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</a:rPr>
              <a:t>RBAC complet (</a:t>
            </a:r>
            <a:r>
              <a:rPr sz="1800" b="0" dirty="0" err="1">
                <a:solidFill>
                  <a:srgbClr val="1E293B"/>
                </a:solidFill>
              </a:rPr>
              <a:t>Invité</a:t>
            </a:r>
            <a:r>
              <a:rPr sz="1800" b="0" dirty="0">
                <a:solidFill>
                  <a:srgbClr val="1E293B"/>
                </a:solidFill>
              </a:rPr>
              <a:t> / Étudiant / </a:t>
            </a:r>
            <a:r>
              <a:rPr sz="1800" b="0" dirty="0" err="1">
                <a:solidFill>
                  <a:srgbClr val="1E293B"/>
                </a:solidFill>
              </a:rPr>
              <a:t>Responsable</a:t>
            </a:r>
            <a:r>
              <a:rPr sz="1800" b="0" dirty="0">
                <a:solidFill>
                  <a:srgbClr val="1E293B"/>
                </a:solidFill>
              </a:rPr>
              <a:t> / Admin) avec </a:t>
            </a:r>
            <a:r>
              <a:rPr sz="1800" b="0" dirty="0" err="1">
                <a:solidFill>
                  <a:srgbClr val="1E293B"/>
                </a:solidFill>
              </a:rPr>
              <a:t>authentification</a:t>
            </a:r>
            <a:r>
              <a:rPr sz="1800" b="0" dirty="0">
                <a:solidFill>
                  <a:srgbClr val="1E293B"/>
                </a:solidFill>
              </a:rPr>
              <a:t> JWT.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078" y="428407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💸  Monétiser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820" y="4182436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</a:rPr>
              <a:t>Modèle Freemium : abonnements Premium, commissions sur événements, sponsors.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773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📊  Piloter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1820" y="4931632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1E293B"/>
                </a:solidFill>
              </a:rPr>
              <a:t>Tableaux de bord temps réel pour les </a:t>
            </a:r>
            <a:r>
              <a:rPr sz="1800" b="0" dirty="0" err="1">
                <a:solidFill>
                  <a:srgbClr val="1E293B"/>
                </a:solidFill>
              </a:rPr>
              <a:t>responsables</a:t>
            </a:r>
            <a:r>
              <a:rPr sz="1800" b="0" dirty="0">
                <a:solidFill>
                  <a:srgbClr val="1E293B"/>
                </a:solidFill>
              </a:rPr>
              <a:t> et </a:t>
            </a:r>
            <a:r>
              <a:rPr sz="1800" b="0" dirty="0" err="1">
                <a:solidFill>
                  <a:srgbClr val="1E293B"/>
                </a:solidFill>
              </a:rPr>
              <a:t>l'administrateur</a:t>
            </a:r>
            <a:r>
              <a:rPr sz="1800" b="0" dirty="0">
                <a:solidFill>
                  <a:srgbClr val="1E293B"/>
                </a:solidFill>
              </a:rPr>
              <a:t>.</a:t>
            </a:r>
          </a:p>
        </p:txBody>
      </p:sp>
      <p:sp>
        <p:nvSpPr>
          <p:cNvPr id="2" name="Shape 14">
            <a:extLst>
              <a:ext uri="{FF2B5EF4-FFF2-40B4-BE49-F238E27FC236}">
                <a16:creationId xmlns:a16="http://schemas.microsoft.com/office/drawing/2014/main" id="{DA506170-72D4-039F-99F2-240E3F29E509}"/>
              </a:ext>
            </a:extLst>
          </p:cNvPr>
          <p:cNvSpPr/>
          <p:nvPr/>
        </p:nvSpPr>
        <p:spPr>
          <a:xfrm>
            <a:off x="11445083" y="6294277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3</a:t>
            </a: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7FF3CC4-3A0D-21D2-A346-70DEB91FA9FD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EDA8A-767F-D065-E66B-205879FC7512}"/>
              </a:ext>
            </a:extLst>
          </p:cNvPr>
          <p:cNvSpPr txBox="1"/>
          <p:nvPr/>
        </p:nvSpPr>
        <p:spPr>
          <a:xfrm>
            <a:off x="344078" y="301658"/>
            <a:ext cx="6405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02 — Objectifs du Projet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118872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Frontend</a:t>
            </a:r>
            <a:r>
              <a:rPr sz="1800" b="1" dirty="0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18872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React 18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/>
              <a:t>Design System Vanilla CSS Premium, </a:t>
            </a:r>
            <a:r>
              <a:rPr sz="1800" b="1" dirty="0" err="1"/>
              <a:t>composants</a:t>
            </a:r>
            <a:r>
              <a:rPr sz="1800" b="1" dirty="0"/>
              <a:t> </a:t>
            </a:r>
            <a:r>
              <a:rPr sz="1800" b="1" dirty="0" err="1"/>
              <a:t>réutilisables</a:t>
            </a:r>
            <a:r>
              <a:rPr sz="1800" b="1" dirty="0"/>
              <a:t>, </a:t>
            </a:r>
            <a:r>
              <a:rPr sz="1800" b="1" dirty="0" err="1"/>
              <a:t>AuthContext</a:t>
            </a:r>
            <a:endParaRPr sz="1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84832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Node.js + 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84832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/>
              <a:t>Architecture MVC, routes REST, middleware RBAC, Swagger /</a:t>
            </a:r>
            <a:r>
              <a:rPr sz="1800" b="1" dirty="0" err="1"/>
              <a:t>api</a:t>
            </a:r>
            <a:r>
              <a:rPr sz="1800" b="1" dirty="0"/>
              <a:t>-docs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80944"/>
            <a:ext cx="164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Base de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80944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MySQL (mysql2)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980944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/>
              <a:t>Tables : users, associations, events, registrations, commissions, sponsors…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877056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Sécurité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87705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JWT + </a:t>
            </a:r>
            <a:r>
              <a:rPr sz="1800" b="1" dirty="0" err="1">
                <a:solidFill>
                  <a:schemeClr val="accent1">
                    <a:lumMod val="50000"/>
                  </a:schemeClr>
                </a:solidFill>
              </a:rPr>
              <a:t>bcrypt</a:t>
            </a:r>
            <a:endParaRPr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80560" y="3877056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/>
              <a:t>Tokens stateless 24h, hash Round 10, CORS, Helmet, validation des </a:t>
            </a:r>
            <a:r>
              <a:rPr sz="1800" b="1" dirty="0" err="1"/>
              <a:t>rôles</a:t>
            </a:r>
            <a:endParaRPr sz="1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365760" y="4773168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Emails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773168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chemeClr val="accent1">
                    <a:lumMod val="50000"/>
                  </a:schemeClr>
                </a:solidFill>
              </a:rPr>
              <a:t>Nodemailer</a:t>
            </a:r>
            <a:r>
              <a:rPr sz="1800" b="1" dirty="0">
                <a:solidFill>
                  <a:schemeClr val="accent1">
                    <a:lumMod val="50000"/>
                  </a:schemeClr>
                </a:solidFill>
              </a:rPr>
              <a:t> + Cron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773168"/>
            <a:ext cx="438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/>
              <a:t>Confirmation, rappels J-1/J-2, notifications, </a:t>
            </a:r>
            <a:r>
              <a:rPr sz="1800" b="1" dirty="0" err="1"/>
              <a:t>révocation</a:t>
            </a:r>
            <a:r>
              <a:rPr sz="1800" b="1" dirty="0"/>
              <a:t> Premium </a:t>
            </a:r>
            <a:r>
              <a:rPr sz="1800" b="1" dirty="0" err="1"/>
              <a:t>automatique</a:t>
            </a:r>
            <a:endParaRPr sz="1800" b="1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93781E76-84CA-54F6-4938-4BF40D970B35}"/>
              </a:ext>
            </a:extLst>
          </p:cNvPr>
          <p:cNvSpPr/>
          <p:nvPr/>
        </p:nvSpPr>
        <p:spPr>
          <a:xfrm>
            <a:off x="11445083" y="6294277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</a:t>
            </a:r>
            <a:r>
              <a:rPr lang="es-ES" b="1" dirty="0">
                <a:solidFill>
                  <a:schemeClr val="bg1"/>
                </a:solidFill>
              </a:rPr>
              <a:t>4</a:t>
            </a:r>
            <a:endParaRPr lang="es-ES" sz="1800" b="1" dirty="0">
              <a:solidFill>
                <a:schemeClr val="bg1"/>
              </a:solidFill>
            </a:endParaRPr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4AEFEAA0-8602-0641-CFBE-38C4985CA326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5A9101-7048-627E-AAA3-7EF0BD4FC769}"/>
              </a:ext>
            </a:extLst>
          </p:cNvPr>
          <p:cNvSpPr txBox="1"/>
          <p:nvPr/>
        </p:nvSpPr>
        <p:spPr>
          <a:xfrm>
            <a:off x="365760" y="226243"/>
            <a:ext cx="8503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>
                <a:solidFill>
                  <a:schemeClr val="bg1"/>
                </a:solidFill>
              </a:rPr>
              <a:t>03 — Architecture Technique</a:t>
            </a:r>
            <a:endParaRPr lang="es-E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🔐 IAM &amp;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4023360" cy="1302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dirty="0">
                <a:solidFill>
                  <a:srgbClr val="1E293B"/>
                </a:solidFill>
              </a:rPr>
              <a:t>• Inscription multi-</a:t>
            </a:r>
            <a:r>
              <a:rPr sz="1800" dirty="0" err="1">
                <a:solidFill>
                  <a:srgbClr val="1E293B"/>
                </a:solidFill>
              </a:rPr>
              <a:t>rôle</a:t>
            </a:r>
            <a:r>
              <a:rPr sz="1800" dirty="0">
                <a:solidFill>
                  <a:srgbClr val="1E293B"/>
                </a:solidFill>
              </a:rPr>
              <a:t> (</a:t>
            </a:r>
            <a:r>
              <a:rPr sz="1800" dirty="0" err="1">
                <a:solidFill>
                  <a:srgbClr val="1E293B"/>
                </a:solidFill>
              </a:rPr>
              <a:t>étudiant</a:t>
            </a:r>
            <a:r>
              <a:rPr sz="1800" dirty="0">
                <a:solidFill>
                  <a:srgbClr val="1E293B"/>
                </a:solidFill>
              </a:rPr>
              <a:t> / </a:t>
            </a:r>
            <a:r>
              <a:rPr sz="1800" dirty="0" err="1">
                <a:solidFill>
                  <a:srgbClr val="1E293B"/>
                </a:solidFill>
              </a:rPr>
              <a:t>responsable</a:t>
            </a:r>
            <a:r>
              <a:rPr sz="1800" dirty="0">
                <a:solidFill>
                  <a:srgbClr val="1E293B"/>
                </a:solidFill>
              </a:rPr>
              <a:t> ONG </a:t>
            </a:r>
            <a:r>
              <a:rPr sz="1800" dirty="0" err="1">
                <a:solidFill>
                  <a:srgbClr val="1E293B"/>
                </a:solidFill>
              </a:rPr>
              <a:t>ou</a:t>
            </a:r>
            <a:r>
              <a:rPr sz="1800" dirty="0">
                <a:solidFill>
                  <a:srgbClr val="1E293B"/>
                </a:solidFill>
              </a:rPr>
              <a:t> club)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1E293B"/>
                </a:solidFill>
              </a:rPr>
              <a:t>• Confirmation email </a:t>
            </a:r>
            <a:endParaRPr lang="es-ES" sz="1800" dirty="0">
              <a:solidFill>
                <a:srgbClr val="1E293B"/>
              </a:solidFill>
            </a:endParaRP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1E293B"/>
                </a:solidFill>
              </a:rPr>
              <a:t>• JWT 24h + reset mot de passe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📅 Événements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783080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dirty="0">
                <a:solidFill>
                  <a:srgbClr val="1E293B"/>
                </a:solidFill>
              </a:rPr>
              <a:t>• </a:t>
            </a:r>
            <a:r>
              <a:rPr sz="1800" dirty="0" err="1">
                <a:solidFill>
                  <a:srgbClr val="1E293B"/>
                </a:solidFill>
              </a:rPr>
              <a:t>Algorithme</a:t>
            </a:r>
            <a:r>
              <a:rPr sz="1800" dirty="0">
                <a:solidFill>
                  <a:srgbClr val="1E293B"/>
                </a:solidFill>
              </a:rPr>
              <a:t> anti-</a:t>
            </a:r>
            <a:r>
              <a:rPr sz="1800" dirty="0" err="1">
                <a:solidFill>
                  <a:srgbClr val="1E293B"/>
                </a:solidFill>
              </a:rPr>
              <a:t>conflit</a:t>
            </a:r>
            <a:r>
              <a:rPr sz="1800" dirty="0">
                <a:solidFill>
                  <a:srgbClr val="1E293B"/>
                </a:solidFill>
              </a:rPr>
              <a:t> de salle (</a:t>
            </a:r>
            <a:r>
              <a:rPr sz="1800" dirty="0" err="1">
                <a:solidFill>
                  <a:srgbClr val="1E293B"/>
                </a:solidFill>
              </a:rPr>
              <a:t>checkConflict</a:t>
            </a:r>
            <a:r>
              <a:rPr sz="1800" dirty="0">
                <a:solidFill>
                  <a:srgbClr val="1E293B"/>
                </a:solidFill>
              </a:rPr>
              <a:t> SQL)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1E293B"/>
                </a:solidFill>
              </a:rPr>
              <a:t>• </a:t>
            </a:r>
            <a:r>
              <a:rPr sz="1800" dirty="0" err="1">
                <a:solidFill>
                  <a:srgbClr val="1E293B"/>
                </a:solidFill>
              </a:rPr>
              <a:t>Tarification</a:t>
            </a:r>
            <a:r>
              <a:rPr sz="1800" dirty="0">
                <a:solidFill>
                  <a:srgbClr val="1E293B"/>
                </a:solidFill>
              </a:rPr>
              <a:t> </a:t>
            </a:r>
            <a:r>
              <a:rPr sz="1800" dirty="0" err="1">
                <a:solidFill>
                  <a:srgbClr val="1E293B"/>
                </a:solidFill>
              </a:rPr>
              <a:t>automatique</a:t>
            </a:r>
            <a:r>
              <a:rPr sz="1800" dirty="0">
                <a:solidFill>
                  <a:srgbClr val="1E293B"/>
                </a:solidFill>
              </a:rPr>
              <a:t> : </a:t>
            </a:r>
            <a:r>
              <a:rPr sz="1800" dirty="0" err="1">
                <a:solidFill>
                  <a:srgbClr val="1E293B"/>
                </a:solidFill>
              </a:rPr>
              <a:t>invité</a:t>
            </a:r>
            <a:r>
              <a:rPr sz="1800" dirty="0">
                <a:solidFill>
                  <a:srgbClr val="1E293B"/>
                </a:solidFill>
              </a:rPr>
              <a:t> / </a:t>
            </a:r>
            <a:r>
              <a:rPr sz="1800" dirty="0" err="1">
                <a:solidFill>
                  <a:srgbClr val="1E293B"/>
                </a:solidFill>
              </a:rPr>
              <a:t>membre</a:t>
            </a:r>
            <a:r>
              <a:rPr sz="1800" dirty="0">
                <a:solidFill>
                  <a:srgbClr val="1E293B"/>
                </a:solidFill>
              </a:rPr>
              <a:t> / 20% remise 10 premiers</a:t>
            </a:r>
          </a:p>
          <a:p>
            <a:pPr>
              <a:spcBef>
                <a:spcPts val="400"/>
              </a:spcBef>
            </a:pPr>
            <a:r>
              <a:rPr sz="1800" dirty="0">
                <a:solidFill>
                  <a:srgbClr val="1E293B"/>
                </a:solidFill>
              </a:rPr>
              <a:t>• Gestion de la </a:t>
            </a:r>
            <a:r>
              <a:rPr sz="1800" dirty="0" err="1">
                <a:solidFill>
                  <a:srgbClr val="1E293B"/>
                </a:solidFill>
              </a:rPr>
              <a:t>jauge</a:t>
            </a:r>
            <a:r>
              <a:rPr sz="1800" dirty="0">
                <a:solidFill>
                  <a:srgbClr val="1E293B"/>
                </a:solidFill>
              </a:rPr>
              <a:t> et </a:t>
            </a:r>
            <a:r>
              <a:rPr sz="1800" dirty="0" err="1">
                <a:solidFill>
                  <a:srgbClr val="1E293B"/>
                </a:solidFill>
              </a:rPr>
              <a:t>liste</a:t>
            </a:r>
            <a:r>
              <a:rPr sz="1800" dirty="0">
                <a:solidFill>
                  <a:srgbClr val="1E293B"/>
                </a:solidFill>
              </a:rPr>
              <a:t> de </a:t>
            </a:r>
            <a:r>
              <a:rPr sz="1800" dirty="0" err="1">
                <a:solidFill>
                  <a:srgbClr val="1E293B"/>
                </a:solidFill>
              </a:rPr>
              <a:t>présence</a:t>
            </a:r>
            <a:r>
              <a:rPr sz="1800" dirty="0">
                <a:solidFill>
                  <a:srgbClr val="1E293B"/>
                </a:solidFill>
              </a:rPr>
              <a:t> nominative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🏢 Associations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251959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E293B"/>
                </a:solidFill>
              </a:rPr>
              <a:t>• Annuaire public + fiche détaillée avec dons pour ONG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E293B"/>
                </a:solidFill>
              </a:rPr>
              <a:t>• Espace membres &amp; ressources (plan Premium)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E293B"/>
                </a:solidFill>
              </a:rPr>
              <a:t>• Trésorerie temps réel avec journal de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749039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👤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251959"/>
            <a:ext cx="4023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1E293B"/>
                </a:solidFill>
              </a:rPr>
              <a:t>• Validation des associations et responsables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E293B"/>
                </a:solidFill>
              </a:rPr>
              <a:t>• Gestion des sponsors corporatifs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1E293B"/>
                </a:solidFill>
              </a:rPr>
              <a:t>• Abonnements Premium, statistiques globales</a:t>
            </a:r>
          </a:p>
        </p:txBody>
      </p:sp>
      <p:sp>
        <p:nvSpPr>
          <p:cNvPr id="15" name="Shape 14">
            <a:extLst>
              <a:ext uri="{FF2B5EF4-FFF2-40B4-BE49-F238E27FC236}">
                <a16:creationId xmlns:a16="http://schemas.microsoft.com/office/drawing/2014/main" id="{AC53F5E7-E893-E935-60EC-22EBF081D098}"/>
              </a:ext>
            </a:extLst>
          </p:cNvPr>
          <p:cNvSpPr/>
          <p:nvPr/>
        </p:nvSpPr>
        <p:spPr>
          <a:xfrm>
            <a:off x="11445083" y="6294277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5</a:t>
            </a: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A5DB651D-E537-0D6E-E8DA-7FE6B3988037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1294B-C592-2369-51FD-1A27B8B073EF}"/>
              </a:ext>
            </a:extLst>
          </p:cNvPr>
          <p:cNvSpPr txBox="1"/>
          <p:nvPr/>
        </p:nvSpPr>
        <p:spPr>
          <a:xfrm>
            <a:off x="207390" y="216816"/>
            <a:ext cx="548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>
                <a:solidFill>
                  <a:schemeClr val="bg1"/>
                </a:solidFill>
              </a:rPr>
              <a:t>04 — Fonctionnalités Clés</a:t>
            </a:r>
            <a:endParaRPr lang="es-E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11887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💎 Abonnement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1887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500 MRU/mois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188720"/>
            <a:ext cx="6614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64748B"/>
                </a:solidFill>
              </a:rPr>
              <a:t>Accès</a:t>
            </a:r>
            <a:r>
              <a:rPr sz="1800" b="0" dirty="0">
                <a:solidFill>
                  <a:srgbClr val="64748B"/>
                </a:solidFill>
              </a:rPr>
              <a:t> : dashboard </a:t>
            </a:r>
            <a:r>
              <a:rPr sz="1800" b="0" dirty="0" err="1">
                <a:solidFill>
                  <a:srgbClr val="64748B"/>
                </a:solidFill>
              </a:rPr>
              <a:t>avancé</a:t>
            </a:r>
            <a:r>
              <a:rPr sz="1800" b="0" dirty="0">
                <a:solidFill>
                  <a:srgbClr val="64748B"/>
                </a:solidFill>
              </a:rPr>
              <a:t>, ressources </a:t>
            </a:r>
            <a:r>
              <a:rPr sz="1800" b="0" dirty="0" err="1">
                <a:solidFill>
                  <a:srgbClr val="64748B"/>
                </a:solidFill>
              </a:rPr>
              <a:t>membres</a:t>
            </a:r>
            <a:r>
              <a:rPr sz="1800" b="0" dirty="0">
                <a:solidFill>
                  <a:srgbClr val="64748B"/>
                </a:solidFill>
              </a:rPr>
              <a:t>, mise en </a:t>
            </a:r>
            <a:r>
              <a:rPr sz="1800" b="0" dirty="0" err="1">
                <a:solidFill>
                  <a:srgbClr val="64748B"/>
                </a:solidFill>
              </a:rPr>
              <a:t>avant</a:t>
            </a:r>
            <a:r>
              <a:rPr sz="1800" b="0" dirty="0">
                <a:solidFill>
                  <a:srgbClr val="64748B"/>
                </a:solidFill>
              </a:rPr>
              <a:t> événements, emails </a:t>
            </a:r>
            <a:r>
              <a:rPr sz="1800" b="0" dirty="0" err="1">
                <a:solidFill>
                  <a:srgbClr val="64748B"/>
                </a:solidFill>
              </a:rPr>
              <a:t>illimités</a:t>
            </a:r>
            <a:r>
              <a:rPr lang="es-ES" sz="1800" b="0" dirty="0">
                <a:solidFill>
                  <a:srgbClr val="64748B"/>
                </a:solidFill>
              </a:rPr>
              <a:t>.</a:t>
            </a:r>
            <a:endParaRPr sz="1800" b="0" dirty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🎟 Commission Billetterie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057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10% par billet validé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057400"/>
            <a:ext cx="6891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 err="1">
                <a:solidFill>
                  <a:srgbClr val="64748B"/>
                </a:solidFill>
              </a:rPr>
              <a:t>Prélevé</a:t>
            </a:r>
            <a:r>
              <a:rPr sz="1800" b="0" dirty="0">
                <a:solidFill>
                  <a:srgbClr val="64748B"/>
                </a:solidFill>
              </a:rPr>
              <a:t> </a:t>
            </a:r>
            <a:r>
              <a:rPr sz="1800" b="0" dirty="0" err="1">
                <a:solidFill>
                  <a:srgbClr val="64748B"/>
                </a:solidFill>
              </a:rPr>
              <a:t>automatiquement</a:t>
            </a:r>
            <a:r>
              <a:rPr sz="1800" b="0" dirty="0">
                <a:solidFill>
                  <a:srgbClr val="64748B"/>
                </a:solidFill>
              </a:rPr>
              <a:t> </a:t>
            </a:r>
            <a:r>
              <a:rPr sz="1800" b="0" dirty="0" err="1">
                <a:solidFill>
                  <a:srgbClr val="64748B"/>
                </a:solidFill>
              </a:rPr>
              <a:t>lors</a:t>
            </a:r>
            <a:r>
              <a:rPr sz="1800" b="0" dirty="0">
                <a:solidFill>
                  <a:srgbClr val="64748B"/>
                </a:solidFill>
              </a:rPr>
              <a:t> de la validation </a:t>
            </a:r>
            <a:r>
              <a:rPr sz="1800" b="0" dirty="0" err="1">
                <a:solidFill>
                  <a:srgbClr val="64748B"/>
                </a:solidFill>
              </a:rPr>
              <a:t>manuelle</a:t>
            </a:r>
            <a:r>
              <a:rPr sz="1800" b="0" dirty="0">
                <a:solidFill>
                  <a:srgbClr val="64748B"/>
                </a:solidFill>
              </a:rPr>
              <a:t> du paiement par le </a:t>
            </a:r>
            <a:r>
              <a:rPr sz="1800" b="0" dirty="0" err="1">
                <a:solidFill>
                  <a:srgbClr val="64748B"/>
                </a:solidFill>
              </a:rPr>
              <a:t>responsable</a:t>
            </a:r>
            <a:r>
              <a:rPr lang="es-ES" sz="1800" b="0" dirty="0">
                <a:solidFill>
                  <a:srgbClr val="64748B"/>
                </a:solidFill>
              </a:rPr>
              <a:t>.</a:t>
            </a:r>
            <a:endParaRPr sz="1800" b="0" dirty="0">
              <a:solidFill>
                <a:srgbClr val="64748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2926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🤝 Commission Adhésion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5% de la cotisation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926080"/>
            <a:ext cx="68919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64748B"/>
                </a:solidFill>
              </a:rPr>
              <a:t>Appliqué </a:t>
            </a:r>
            <a:r>
              <a:rPr sz="1800" b="0" dirty="0" err="1">
                <a:solidFill>
                  <a:srgbClr val="64748B"/>
                </a:solidFill>
              </a:rPr>
              <a:t>lors</a:t>
            </a:r>
            <a:r>
              <a:rPr sz="1800" b="0" dirty="0">
                <a:solidFill>
                  <a:srgbClr val="64748B"/>
                </a:solidFill>
              </a:rPr>
              <a:t> de la validation de </a:t>
            </a:r>
            <a:r>
              <a:rPr sz="1800" b="0" dirty="0" err="1">
                <a:solidFill>
                  <a:srgbClr val="64748B"/>
                </a:solidFill>
              </a:rPr>
              <a:t>chaque</a:t>
            </a:r>
            <a:r>
              <a:rPr sz="1800" b="0" dirty="0">
                <a:solidFill>
                  <a:srgbClr val="64748B"/>
                </a:solidFill>
              </a:rPr>
              <a:t> </a:t>
            </a:r>
            <a:r>
              <a:rPr sz="1800" b="0" dirty="0" err="1">
                <a:solidFill>
                  <a:srgbClr val="64748B"/>
                </a:solidFill>
              </a:rPr>
              <a:t>cotisation</a:t>
            </a:r>
            <a:r>
              <a:rPr sz="1800" b="0" dirty="0">
                <a:solidFill>
                  <a:srgbClr val="64748B"/>
                </a:solidFill>
              </a:rPr>
              <a:t> </a:t>
            </a:r>
            <a:r>
              <a:rPr sz="1800" b="0" dirty="0" err="1">
                <a:solidFill>
                  <a:srgbClr val="64748B"/>
                </a:solidFill>
              </a:rPr>
              <a:t>annuelle</a:t>
            </a:r>
            <a:r>
              <a:rPr sz="1800" b="0" dirty="0">
                <a:solidFill>
                  <a:srgbClr val="64748B"/>
                </a:solidFill>
              </a:rPr>
              <a:t> de </a:t>
            </a:r>
            <a:r>
              <a:rPr sz="1800" b="0" dirty="0" err="1">
                <a:solidFill>
                  <a:srgbClr val="64748B"/>
                </a:solidFill>
              </a:rPr>
              <a:t>membre</a:t>
            </a:r>
            <a:r>
              <a:rPr lang="es-ES" sz="1800" b="0" dirty="0">
                <a:solidFill>
                  <a:srgbClr val="64748B"/>
                </a:solidFill>
              </a:rPr>
              <a:t>.</a:t>
            </a:r>
            <a:endParaRPr sz="1800" b="0" dirty="0">
              <a:solidFill>
                <a:srgbClr val="64748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379475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🏢 Sponsor Corporatif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79475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5 000 MRU/mois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1" y="3794759"/>
            <a:ext cx="6891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64748B"/>
                </a:solidFill>
              </a:rPr>
              <a:t>Logo sur la landing page, section </a:t>
            </a:r>
            <a:r>
              <a:rPr sz="1800" b="0" dirty="0" err="1">
                <a:solidFill>
                  <a:srgbClr val="64748B"/>
                </a:solidFill>
              </a:rPr>
              <a:t>partenaires</a:t>
            </a:r>
            <a:r>
              <a:rPr sz="1800" b="0" dirty="0">
                <a:solidFill>
                  <a:srgbClr val="64748B"/>
                </a:solidFill>
              </a:rPr>
              <a:t>, modal contact — 5 sponsors </a:t>
            </a:r>
            <a:r>
              <a:rPr sz="1800" b="0" dirty="0" err="1">
                <a:solidFill>
                  <a:srgbClr val="64748B"/>
                </a:solidFill>
              </a:rPr>
              <a:t>actifs</a:t>
            </a:r>
            <a:r>
              <a:rPr lang="es-ES" sz="1800" b="0" dirty="0">
                <a:solidFill>
                  <a:srgbClr val="64748B"/>
                </a:solidFill>
              </a:rPr>
              <a:t>.</a:t>
            </a:r>
            <a:endParaRPr sz="1800" b="0" dirty="0">
              <a:solidFill>
                <a:srgbClr val="64748B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📣 Visibilité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663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Inclus 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663440"/>
            <a:ext cx="6891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64748B"/>
                </a:solidFill>
              </a:rPr>
              <a:t>Événements à la </a:t>
            </a:r>
            <a:r>
              <a:rPr sz="1800" b="0" dirty="0" err="1">
                <a:solidFill>
                  <a:srgbClr val="64748B"/>
                </a:solidFill>
              </a:rPr>
              <a:t>une</a:t>
            </a:r>
            <a:r>
              <a:rPr sz="1800" b="0" dirty="0">
                <a:solidFill>
                  <a:srgbClr val="64748B"/>
                </a:solidFill>
              </a:rPr>
              <a:t> (carousel), badge </a:t>
            </a:r>
            <a:r>
              <a:rPr sz="1800" b="0" dirty="0" err="1">
                <a:solidFill>
                  <a:srgbClr val="64748B"/>
                </a:solidFill>
              </a:rPr>
              <a:t>exclusif</a:t>
            </a:r>
            <a:r>
              <a:rPr sz="1800" b="0" dirty="0">
                <a:solidFill>
                  <a:srgbClr val="64748B"/>
                </a:solidFill>
              </a:rPr>
              <a:t>, </a:t>
            </a:r>
            <a:r>
              <a:rPr sz="1800" b="0" dirty="0" err="1">
                <a:solidFill>
                  <a:srgbClr val="64748B"/>
                </a:solidFill>
              </a:rPr>
              <a:t>priorité</a:t>
            </a:r>
            <a:r>
              <a:rPr sz="1800" b="0" dirty="0">
                <a:solidFill>
                  <a:srgbClr val="64748B"/>
                </a:solidFill>
              </a:rPr>
              <a:t> </a:t>
            </a:r>
            <a:r>
              <a:rPr sz="1800" b="0" dirty="0" err="1">
                <a:solidFill>
                  <a:srgbClr val="64748B"/>
                </a:solidFill>
              </a:rPr>
              <a:t>d'affichage</a:t>
            </a:r>
            <a:r>
              <a:rPr sz="1800" b="0" dirty="0">
                <a:solidFill>
                  <a:srgbClr val="64748B"/>
                </a:solidFill>
              </a:rPr>
              <a:t> dans le catalogue</a:t>
            </a:r>
            <a:r>
              <a:rPr lang="es-ES" sz="1800" b="0" dirty="0">
                <a:solidFill>
                  <a:srgbClr val="64748B"/>
                </a:solidFill>
              </a:rPr>
              <a:t>.</a:t>
            </a:r>
            <a:endParaRPr sz="1800" b="0" dirty="0">
              <a:solidFill>
                <a:srgbClr val="64748B"/>
              </a:solidFill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EBC3C777-7705-A00C-3C8D-56AA60C3C4B3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6B92C4-2F87-4EDB-DCD2-26CB00665D05}"/>
              </a:ext>
            </a:extLst>
          </p:cNvPr>
          <p:cNvSpPr txBox="1"/>
          <p:nvPr/>
        </p:nvSpPr>
        <p:spPr>
          <a:xfrm>
            <a:off x="365760" y="179109"/>
            <a:ext cx="6911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05 — Modèle Économique Freemium</a:t>
            </a:r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E9556E54-A3F9-E8A7-E8E8-2ED561413580}"/>
              </a:ext>
            </a:extLst>
          </p:cNvPr>
          <p:cNvSpPr/>
          <p:nvPr/>
        </p:nvSpPr>
        <p:spPr>
          <a:xfrm>
            <a:off x="11445083" y="6294277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</a:t>
            </a:r>
            <a:r>
              <a:rPr lang="es-ES" b="1" dirty="0">
                <a:solidFill>
                  <a:schemeClr val="bg1"/>
                </a:solidFill>
              </a:rPr>
              <a:t>6</a:t>
            </a:r>
            <a:endParaRPr lang="es-ES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F1F13BC7-E726-E517-D4EA-825CCF768837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19964-40C2-6528-DB49-16BCEC5C197A}"/>
              </a:ext>
            </a:extLst>
          </p:cNvPr>
          <p:cNvSpPr txBox="1"/>
          <p:nvPr/>
        </p:nvSpPr>
        <p:spPr>
          <a:xfrm>
            <a:off x="546755" y="226243"/>
            <a:ext cx="5684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06 — Conceptions</a:t>
            </a: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FEBEDAF1-730B-95FE-8904-062FAD925842}"/>
              </a:ext>
            </a:extLst>
          </p:cNvPr>
          <p:cNvSpPr/>
          <p:nvPr/>
        </p:nvSpPr>
        <p:spPr>
          <a:xfrm>
            <a:off x="11445083" y="6294277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7</a:t>
            </a:r>
          </a:p>
        </p:txBody>
      </p:sp>
    </p:spTree>
    <p:extLst>
      <p:ext uri="{BB962C8B-B14F-4D97-AF65-F5344CB8AC3E}">
        <p14:creationId xmlns:p14="http://schemas.microsoft.com/office/powerpoint/2010/main" val="2543459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1051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051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051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Statut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051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Livrables principaux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Sprint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</a:rPr>
              <a:t>Initialisation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54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22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/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Vision produit, backlog, DoD, environnement Git, architecture MVC validée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3957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Sprint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3957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</a:rPr>
              <a:t>Auth &amp; Associations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39572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23 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95728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/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957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Inscription, JWT, email confirm, rôles, annuaire associations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236976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Sprint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2369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</a:rPr>
              <a:t>Adhésions &amp; Événements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2369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31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236976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/>
              <a:t>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23697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Anti-conflit salle, inscriptions, tarification, liste nominative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078224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Sprint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40782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</a:rPr>
              <a:t>Notifs &amp;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0782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29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078224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/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07822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Emails auto, cron rappels, trésorerie, historique participant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1947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56DB"/>
                </a:solidFill>
              </a:rPr>
              <a:t>Sprint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9194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</a:rPr>
              <a:t>Freemium &amp; Livraison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91947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29 pts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919472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/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91947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4748B"/>
                </a:solidFill>
              </a:rPr>
              <a:t>RBAC complet, commissions, sponsors, Swagger, corrections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92050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>
                <a:solidFill>
                  <a:srgbClr val="1A56DB"/>
                </a:solidFill>
              </a:rPr>
              <a:t>Total : 134 points story  |  5 sprints  |  100% </a:t>
            </a:r>
            <a:r>
              <a:rPr sz="1800" b="1" dirty="0" err="1">
                <a:solidFill>
                  <a:srgbClr val="1A56DB"/>
                </a:solidFill>
              </a:rPr>
              <a:t>complété</a:t>
            </a:r>
            <a:endParaRPr sz="1800" b="1" dirty="0">
              <a:solidFill>
                <a:srgbClr val="1A56DB"/>
              </a:solidFill>
            </a:endParaRP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B711363B-AFD9-A70D-257F-779212996399}"/>
              </a:ext>
            </a:extLst>
          </p:cNvPr>
          <p:cNvSpPr/>
          <p:nvPr/>
        </p:nvSpPr>
        <p:spPr>
          <a:xfrm>
            <a:off x="11482791" y="6331984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8</a:t>
            </a:r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BB6BFB96-E48B-FF92-6C42-D06257294500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A831FC-836F-5DF6-9758-17A9B6A343E8}"/>
              </a:ext>
            </a:extLst>
          </p:cNvPr>
          <p:cNvSpPr txBox="1"/>
          <p:nvPr/>
        </p:nvSpPr>
        <p:spPr>
          <a:xfrm>
            <a:off x="365760" y="226243"/>
            <a:ext cx="8806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07 — Méthodologie Scrum &amp; Sprints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130AD00A-EBB2-7493-772E-8F22B0BC782E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B3A6C5-B5B5-3970-565E-225CEA7A6A6A}"/>
              </a:ext>
            </a:extLst>
          </p:cNvPr>
          <p:cNvSpPr txBox="1"/>
          <p:nvPr/>
        </p:nvSpPr>
        <p:spPr>
          <a:xfrm>
            <a:off x="339365" y="235670"/>
            <a:ext cx="70323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08 —  Démonstration</a:t>
            </a:r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B4ED0B7F-9464-AFAA-8896-A8BAA3D014F8}"/>
              </a:ext>
            </a:extLst>
          </p:cNvPr>
          <p:cNvSpPr/>
          <p:nvPr/>
        </p:nvSpPr>
        <p:spPr>
          <a:xfrm>
            <a:off x="11482791" y="6331984"/>
            <a:ext cx="50292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</a:t>
            </a:r>
            <a:r>
              <a:rPr lang="es-ES" b="1" dirty="0">
                <a:solidFill>
                  <a:schemeClr val="bg1"/>
                </a:solidFill>
              </a:rPr>
              <a:t>9</a:t>
            </a:r>
            <a:endParaRPr lang="es-ES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30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</a:rPr>
              <a:t>✅  Ce qui a été livré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573024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Plateforme Full</a:t>
            </a:r>
            <a:r>
              <a:rPr lang="es-ES" sz="1800" dirty="0">
                <a:solidFill>
                  <a:srgbClr val="1E293B"/>
                </a:solidFill>
              </a:rPr>
              <a:t>-</a:t>
            </a:r>
            <a:r>
              <a:rPr sz="1800" dirty="0">
                <a:solidFill>
                  <a:srgbClr val="1E293B"/>
                </a:solidFill>
              </a:rPr>
              <a:t>stack </a:t>
            </a:r>
            <a:r>
              <a:rPr sz="1800" dirty="0" err="1">
                <a:solidFill>
                  <a:srgbClr val="1E293B"/>
                </a:solidFill>
              </a:rPr>
              <a:t>fonctionnelle</a:t>
            </a:r>
            <a:r>
              <a:rPr sz="1800" dirty="0">
                <a:solidFill>
                  <a:srgbClr val="1E293B"/>
                </a:solidFill>
              </a:rPr>
              <a:t> (React + Node + MySQL)</a:t>
            </a:r>
          </a:p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134 points story </a:t>
            </a:r>
            <a:r>
              <a:rPr sz="1800" dirty="0" err="1">
                <a:solidFill>
                  <a:srgbClr val="1E293B"/>
                </a:solidFill>
              </a:rPr>
              <a:t>livrés</a:t>
            </a:r>
            <a:r>
              <a:rPr sz="1800" dirty="0">
                <a:solidFill>
                  <a:srgbClr val="1E293B"/>
                </a:solidFill>
              </a:rPr>
              <a:t> sur 5 sprints (100%)</a:t>
            </a:r>
          </a:p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RBAC complet, JWT </a:t>
            </a:r>
            <a:r>
              <a:rPr sz="1800" dirty="0" err="1">
                <a:solidFill>
                  <a:srgbClr val="1E293B"/>
                </a:solidFill>
              </a:rPr>
              <a:t>sécurisé</a:t>
            </a:r>
            <a:r>
              <a:rPr sz="1800" dirty="0">
                <a:solidFill>
                  <a:srgbClr val="1E293B"/>
                </a:solidFill>
              </a:rPr>
              <a:t>, </a:t>
            </a:r>
            <a:r>
              <a:rPr sz="1800" dirty="0" err="1">
                <a:solidFill>
                  <a:srgbClr val="1E293B"/>
                </a:solidFill>
              </a:rPr>
              <a:t>bcrypt</a:t>
            </a:r>
            <a:r>
              <a:rPr sz="1800" dirty="0">
                <a:solidFill>
                  <a:srgbClr val="1E293B"/>
                </a:solidFill>
              </a:rPr>
              <a:t> Round 10</a:t>
            </a:r>
          </a:p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Système de commissions </a:t>
            </a:r>
            <a:r>
              <a:rPr sz="1800" dirty="0" err="1">
                <a:solidFill>
                  <a:srgbClr val="1E293B"/>
                </a:solidFill>
              </a:rPr>
              <a:t>automatisées</a:t>
            </a:r>
            <a:r>
              <a:rPr sz="1800" dirty="0">
                <a:solidFill>
                  <a:srgbClr val="1E293B"/>
                </a:solidFill>
              </a:rPr>
              <a:t> (10% + 5%)</a:t>
            </a:r>
          </a:p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5 sponsors </a:t>
            </a:r>
            <a:r>
              <a:rPr sz="1800" dirty="0" err="1">
                <a:solidFill>
                  <a:srgbClr val="1E293B"/>
                </a:solidFill>
              </a:rPr>
              <a:t>réels</a:t>
            </a:r>
            <a:r>
              <a:rPr sz="1800" dirty="0">
                <a:solidFill>
                  <a:srgbClr val="1E293B"/>
                </a:solidFill>
              </a:rPr>
              <a:t> </a:t>
            </a:r>
            <a:r>
              <a:rPr sz="1800" dirty="0" err="1">
                <a:solidFill>
                  <a:srgbClr val="1E293B"/>
                </a:solidFill>
              </a:rPr>
              <a:t>intégrés</a:t>
            </a:r>
            <a:r>
              <a:rPr sz="1800" dirty="0">
                <a:solidFill>
                  <a:srgbClr val="1E293B"/>
                </a:solidFill>
              </a:rPr>
              <a:t> avec </a:t>
            </a:r>
            <a:r>
              <a:rPr sz="1800" dirty="0" err="1">
                <a:solidFill>
                  <a:srgbClr val="1E293B"/>
                </a:solidFill>
              </a:rPr>
              <a:t>espace</a:t>
            </a:r>
            <a:r>
              <a:rPr sz="1800" dirty="0">
                <a:solidFill>
                  <a:srgbClr val="1E293B"/>
                </a:solidFill>
              </a:rPr>
              <a:t> </a:t>
            </a:r>
            <a:r>
              <a:rPr sz="1800" dirty="0" err="1">
                <a:solidFill>
                  <a:srgbClr val="1E293B"/>
                </a:solidFill>
              </a:rPr>
              <a:t>dynamique</a:t>
            </a:r>
            <a:endParaRPr sz="1800" dirty="0">
              <a:solidFill>
                <a:srgbClr val="1E293B"/>
              </a:solidFill>
            </a:endParaRPr>
          </a:p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Documentation Swagger </a:t>
            </a:r>
            <a:r>
              <a:rPr sz="1800" dirty="0" err="1">
                <a:solidFill>
                  <a:srgbClr val="1E293B"/>
                </a:solidFill>
              </a:rPr>
              <a:t>complète</a:t>
            </a:r>
            <a:r>
              <a:rPr sz="1800" dirty="0">
                <a:solidFill>
                  <a:srgbClr val="1E293B"/>
                </a:solidFill>
              </a:rPr>
              <a:t> sur /</a:t>
            </a:r>
            <a:r>
              <a:rPr sz="1800" dirty="0" err="1">
                <a:solidFill>
                  <a:srgbClr val="1E293B"/>
                </a:solidFill>
              </a:rPr>
              <a:t>api</a:t>
            </a:r>
            <a:r>
              <a:rPr sz="1800" dirty="0">
                <a:solidFill>
                  <a:srgbClr val="1E293B"/>
                </a:solidFill>
              </a:rPr>
              <a:t>-docs</a:t>
            </a:r>
          </a:p>
          <a:p>
            <a:pPr>
              <a:spcBef>
                <a:spcPts val="500"/>
              </a:spcBef>
            </a:pPr>
            <a:r>
              <a:rPr sz="1800" dirty="0">
                <a:solidFill>
                  <a:srgbClr val="1E293B"/>
                </a:solidFill>
              </a:rPr>
              <a:t>✓  Cron jobs : rappels, </a:t>
            </a:r>
            <a:r>
              <a:rPr sz="1800" dirty="0" err="1">
                <a:solidFill>
                  <a:srgbClr val="1E293B"/>
                </a:solidFill>
              </a:rPr>
              <a:t>révocation</a:t>
            </a:r>
            <a:r>
              <a:rPr sz="1800" dirty="0">
                <a:solidFill>
                  <a:srgbClr val="1E293B"/>
                </a:solidFill>
              </a:rPr>
              <a:t> Premium, </a:t>
            </a:r>
            <a:r>
              <a:rPr sz="1800" dirty="0" err="1">
                <a:solidFill>
                  <a:srgbClr val="1E293B"/>
                </a:solidFill>
              </a:rPr>
              <a:t>archivage</a:t>
            </a:r>
            <a:endParaRPr sz="1800" dirty="0">
              <a:solidFill>
                <a:srgbClr val="1E293B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37960" y="11887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A56DB"/>
                </a:solidFill>
              </a:rPr>
              <a:t>🚀  Perspectives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6238" y="1815602"/>
            <a:ext cx="7604603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Intégration paiement en ligne (Stripe / Bankily API)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Application mobile React Native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Messagerie interne entre membres et responsables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Système de votes et sondages associatifs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Déploiement cloud (VPS / hébergement Mauritanien)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Tableau de bord analytique avancé (graphiques D3.js)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0EA5E9"/>
                </a:solidFill>
              </a:rPr>
              <a:t>→  Module candidature aux postes de bureau d'asso</a:t>
            </a: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930B4CCE-DE34-5941-45A9-215D744F0BC6}"/>
              </a:ext>
            </a:extLst>
          </p:cNvPr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A3C25-9BA5-876D-8D06-D315D087D74D}"/>
              </a:ext>
            </a:extLst>
          </p:cNvPr>
          <p:cNvSpPr txBox="1"/>
          <p:nvPr/>
        </p:nvSpPr>
        <p:spPr>
          <a:xfrm>
            <a:off x="179109" y="131975"/>
            <a:ext cx="7692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09 — Bilan &amp; Perspectives</a:t>
            </a:r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C67E80A2-9D93-18C3-B5CB-D685D2D23411}"/>
              </a:ext>
            </a:extLst>
          </p:cNvPr>
          <p:cNvSpPr/>
          <p:nvPr/>
        </p:nvSpPr>
        <p:spPr>
          <a:xfrm>
            <a:off x="11340445" y="6331984"/>
            <a:ext cx="645266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4E6C90C-5257-BA83-4FD7-93A5B4075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565" y="636310"/>
            <a:ext cx="3108960" cy="265176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17080C76-358E-E5DE-2257-2DC7E77AE441}"/>
              </a:ext>
            </a:extLst>
          </p:cNvPr>
          <p:cNvSpPr/>
          <p:nvPr/>
        </p:nvSpPr>
        <p:spPr>
          <a:xfrm>
            <a:off x="2196445" y="4116446"/>
            <a:ext cx="7315200" cy="1017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20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VOTRE ATTENTION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14">
            <a:extLst>
              <a:ext uri="{FF2B5EF4-FFF2-40B4-BE49-F238E27FC236}">
                <a16:creationId xmlns:a16="http://schemas.microsoft.com/office/drawing/2014/main" id="{7F8C18C4-9014-1220-9DAF-7BE2355A5027}"/>
              </a:ext>
            </a:extLst>
          </p:cNvPr>
          <p:cNvSpPr/>
          <p:nvPr/>
        </p:nvSpPr>
        <p:spPr>
          <a:xfrm>
            <a:off x="11340445" y="6331984"/>
            <a:ext cx="645266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r>
              <a:rPr lang="es-ES" sz="1800" b="1" dirty="0">
                <a:solidFill>
                  <a:schemeClr val="bg1"/>
                </a:solidFill>
              </a:rPr>
              <a:t>  1</a:t>
            </a:r>
            <a:r>
              <a:rPr lang="es-ES" b="1" dirty="0">
                <a:solidFill>
                  <a:schemeClr val="bg1"/>
                </a:solidFill>
              </a:rPr>
              <a:t>1</a:t>
            </a:r>
            <a:endParaRPr lang="es-ES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30290</TotalTime>
  <Words>802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Moussa Erebih</dc:creator>
  <cp:lastModifiedBy>saleck baya</cp:lastModifiedBy>
  <cp:revision>94</cp:revision>
  <dcterms:created xsi:type="dcterms:W3CDTF">2025-05-13T00:58:14Z</dcterms:created>
  <dcterms:modified xsi:type="dcterms:W3CDTF">2026-06-15T00:01:49Z</dcterms:modified>
</cp:coreProperties>
</file>